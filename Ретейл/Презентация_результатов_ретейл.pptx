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19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charts/chartEx1.xml" ContentType="application/vnd.ms-office.chartex+xml"/>
  <Override PartName="/ppt/charts/style20.xml" ContentType="application/vnd.ms-office.chartstyle+xml"/>
  <Override PartName="/ppt/charts/colors20.xml" ContentType="application/vnd.ms-office.chartcolorstyle+xml"/>
  <Override PartName="/ppt/charts/chart20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charts/chart21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76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9" r:id="rId14"/>
    <p:sldId id="268" r:id="rId15"/>
    <p:sldId id="269" r:id="rId16"/>
    <p:sldId id="270" r:id="rId17"/>
    <p:sldId id="278" r:id="rId18"/>
    <p:sldId id="271" r:id="rId19"/>
    <p:sldId id="272" r:id="rId20"/>
    <p:sldId id="273" r:id="rId21"/>
    <p:sldId id="274" r:id="rId22"/>
    <p:sldId id="275" r:id="rId23"/>
    <p:sldId id="277" r:id="rId2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0" autoAdjust="0"/>
    <p:restoredTop sz="94397" autoAdjust="0"/>
  </p:normalViewPr>
  <p:slideViewPr>
    <p:cSldViewPr snapToGrid="0">
      <p:cViewPr varScale="1">
        <p:scale>
          <a:sx n="104" d="100"/>
          <a:sy n="104" d="100"/>
        </p:scale>
        <p:origin x="86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4.xlsx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5.xlsx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6.xlsx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7.xlsx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8.xlsx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0.xlsx"/><Relationship Id="rId2" Type="http://schemas.microsoft.com/office/2011/relationships/chartColorStyle" Target="colors21.xml"/><Relationship Id="rId1" Type="http://schemas.microsoft.com/office/2011/relationships/chartStyle" Target="style21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1.xlsx"/><Relationship Id="rId2" Type="http://schemas.microsoft.com/office/2011/relationships/chartColorStyle" Target="colors22.xml"/><Relationship Id="rId1" Type="http://schemas.microsoft.com/office/2011/relationships/chartStyle" Target="style22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20.xml"/><Relationship Id="rId2" Type="http://schemas.microsoft.com/office/2011/relationships/chartStyle" Target="style20.xml"/><Relationship Id="rId1" Type="http://schemas.openxmlformats.org/officeDocument/2006/relationships/package" Target="../embeddings/Microsoft_Excel_Worksheet1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cap="none" spc="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ru-RU" sz="1800" dirty="0"/>
              <a:t>Общее количество транзакций в динамике</a:t>
            </a:r>
            <a:br>
              <a:rPr lang="ru-RU" sz="1800" dirty="0"/>
            </a:br>
            <a:r>
              <a:rPr lang="ru-RU" sz="1800" dirty="0"/>
              <a:t> с долями по торговым точкам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cap="none" spc="0" normalizeH="0" baseline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+mj-ea"/>
              <a:cs typeface="+mj-cs"/>
            </a:defRPr>
          </a:pPr>
          <a:endParaRPr lang="ru-RU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Ленинский пр-т, 162/1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Лист1!$A$2:$A$5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numCache>
            </c:num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2775</c:v>
                </c:pt>
                <c:pt idx="1">
                  <c:v>2798</c:v>
                </c:pt>
                <c:pt idx="2">
                  <c:v>2615</c:v>
                </c:pt>
                <c:pt idx="3">
                  <c:v>2655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2EE-4BD0-BF4E-523FBE34556B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пр-т Вернадского, 88к3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Лист1!$A$2:$A$5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numCache>
            </c:num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1692</c:v>
                </c:pt>
                <c:pt idx="1">
                  <c:v>1687</c:v>
                </c:pt>
                <c:pt idx="2">
                  <c:v>1657</c:v>
                </c:pt>
                <c:pt idx="3">
                  <c:v>1593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2EE-4BD0-BF4E-523FBE34556B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Ракетный б-р, 14к1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numRef>
              <c:f>Лист1!$A$2:$A$5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numCache>
            </c:numRef>
          </c:cat>
          <c:val>
            <c:numRef>
              <c:f>Лист1!$D$2:$D$5</c:f>
              <c:numCache>
                <c:formatCode>General</c:formatCode>
                <c:ptCount val="4"/>
                <c:pt idx="0">
                  <c:v>1408</c:v>
                </c:pt>
                <c:pt idx="1">
                  <c:v>1482</c:v>
                </c:pt>
                <c:pt idx="2">
                  <c:v>1388</c:v>
                </c:pt>
                <c:pt idx="3">
                  <c:v>1326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2EE-4BD0-BF4E-523FBE34556B}"/>
            </c:ext>
          </c:extLst>
        </c:ser>
        <c:ser>
          <c:idx val="3"/>
          <c:order val="3"/>
          <c:tx>
            <c:strRef>
              <c:f>Лист1!$E$1</c:f>
              <c:strCache>
                <c:ptCount val="1"/>
                <c:pt idx="0">
                  <c:v>Симферопольский б-р, 22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numRef>
              <c:f>Лист1!$A$2:$A$5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numCache>
            </c:numRef>
          </c:cat>
          <c:val>
            <c:numRef>
              <c:f>Лист1!$E$2:$E$5</c:f>
              <c:numCache>
                <c:formatCode>General</c:formatCode>
                <c:ptCount val="4"/>
                <c:pt idx="0">
                  <c:v>855</c:v>
                </c:pt>
                <c:pt idx="1">
                  <c:v>910</c:v>
                </c:pt>
                <c:pt idx="2">
                  <c:v>227</c:v>
                </c:pt>
                <c:pt idx="3">
                  <c:v>293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2EE-4BD0-BF4E-523FBE34556B}"/>
            </c:ext>
          </c:extLst>
        </c:ser>
        <c:ser>
          <c:idx val="4"/>
          <c:order val="4"/>
          <c:tx>
            <c:strRef>
              <c:f>Лист1!$F$1</c:f>
              <c:strCache>
                <c:ptCount val="1"/>
                <c:pt idx="0">
                  <c:v>ул. Чертановская,  20к2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numRef>
              <c:f>Лист1!$A$2:$A$5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numCache>
            </c:numRef>
          </c:cat>
          <c:val>
            <c:numRef>
              <c:f>Лист1!$F$2:$F$5</c:f>
              <c:numCache>
                <c:formatCode>General</c:formatCode>
                <c:ptCount val="4"/>
                <c:pt idx="2">
                  <c:v>1823</c:v>
                </c:pt>
                <c:pt idx="3">
                  <c:v>3172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2EE-4BD0-BF4E-523FBE34556B}"/>
            </c:ext>
          </c:extLst>
        </c:ser>
        <c:ser>
          <c:idx val="5"/>
          <c:order val="5"/>
          <c:tx>
            <c:strRef>
              <c:f>Лист1!$G$1</c:f>
              <c:strCache>
                <c:ptCount val="1"/>
                <c:pt idx="0">
                  <c:v>ул. Щорса, 26/3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numRef>
              <c:f>Лист1!$A$2:$A$5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numCache>
            </c:numRef>
          </c:cat>
          <c:val>
            <c:numRef>
              <c:f>Лист1!$G$2:$G$5</c:f>
              <c:numCache>
                <c:formatCode>General</c:formatCode>
                <c:ptCount val="4"/>
                <c:pt idx="0">
                  <c:v>1119</c:v>
                </c:pt>
                <c:pt idx="1">
                  <c:v>1070</c:v>
                </c:pt>
                <c:pt idx="2">
                  <c:v>1079</c:v>
                </c:pt>
                <c:pt idx="3">
                  <c:v>1036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D2EE-4BD0-BF4E-523FBE3455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overlap val="100"/>
        <c:axId val="1879752432"/>
        <c:axId val="1879775472"/>
      </c:barChart>
      <c:catAx>
        <c:axId val="187975243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dirty="0"/>
                  <a:t>день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none" spc="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879775472"/>
        <c:crosses val="autoZero"/>
        <c:auto val="1"/>
        <c:lblAlgn val="ctr"/>
        <c:lblOffset val="100"/>
        <c:noMultiLvlLbl val="0"/>
      </c:catAx>
      <c:valAx>
        <c:axId val="1879775472"/>
        <c:scaling>
          <c:orientation val="minMax"/>
          <c:max val="1100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197" b="0" i="0" u="none" strike="noStrike" kern="1200" cap="all" baseline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</a:rPr>
                  <a:t>количество транзакций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8797524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cap="none" spc="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ru-RU" sz="1800" dirty="0"/>
              <a:t>Доля количества транзакций </a:t>
            </a:r>
            <a:br>
              <a:rPr lang="ru-RU" sz="1800" dirty="0"/>
            </a:br>
            <a:r>
              <a:rPr lang="ru-RU" sz="1800" dirty="0"/>
              <a:t>по торговым точкам в динамике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cap="none" spc="0" normalizeH="0" baseline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+mj-ea"/>
              <a:cs typeface="+mj-cs"/>
            </a:defRPr>
          </a:pPr>
          <a:endParaRPr lang="ru-RU"/>
        </a:p>
      </c:txPr>
    </c:title>
    <c:autoTitleDeleted val="0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Ленинский пр-т, 162/1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Лист1!$A$2:$A$5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numCache>
            </c:num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2775</c:v>
                </c:pt>
                <c:pt idx="1">
                  <c:v>2798</c:v>
                </c:pt>
                <c:pt idx="2">
                  <c:v>2615</c:v>
                </c:pt>
                <c:pt idx="3">
                  <c:v>2655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84D-4449-9C00-5883E74D72E1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пр-т Вернадского, 88к3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Лист1!$A$2:$A$5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numCache>
            </c:num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1692</c:v>
                </c:pt>
                <c:pt idx="1">
                  <c:v>1687</c:v>
                </c:pt>
                <c:pt idx="2">
                  <c:v>1657</c:v>
                </c:pt>
                <c:pt idx="3">
                  <c:v>1593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84D-4449-9C00-5883E74D72E1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Ракетный б-р, 14к1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numRef>
              <c:f>Лист1!$A$2:$A$5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numCache>
            </c:numRef>
          </c:cat>
          <c:val>
            <c:numRef>
              <c:f>Лист1!$D$2:$D$5</c:f>
              <c:numCache>
                <c:formatCode>General</c:formatCode>
                <c:ptCount val="4"/>
                <c:pt idx="0">
                  <c:v>1408</c:v>
                </c:pt>
                <c:pt idx="1">
                  <c:v>1482</c:v>
                </c:pt>
                <c:pt idx="2">
                  <c:v>1388</c:v>
                </c:pt>
                <c:pt idx="3">
                  <c:v>1326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84D-4449-9C00-5883E74D72E1}"/>
            </c:ext>
          </c:extLst>
        </c:ser>
        <c:ser>
          <c:idx val="3"/>
          <c:order val="3"/>
          <c:tx>
            <c:strRef>
              <c:f>Лист1!$E$1</c:f>
              <c:strCache>
                <c:ptCount val="1"/>
                <c:pt idx="0">
                  <c:v>Симферопольский б-р, 22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numRef>
              <c:f>Лист1!$A$2:$A$5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numCache>
            </c:numRef>
          </c:cat>
          <c:val>
            <c:numRef>
              <c:f>Лист1!$E$2:$E$5</c:f>
              <c:numCache>
                <c:formatCode>General</c:formatCode>
                <c:ptCount val="4"/>
                <c:pt idx="0">
                  <c:v>855</c:v>
                </c:pt>
                <c:pt idx="1">
                  <c:v>910</c:v>
                </c:pt>
                <c:pt idx="2">
                  <c:v>227</c:v>
                </c:pt>
                <c:pt idx="3">
                  <c:v>293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84D-4449-9C00-5883E74D72E1}"/>
            </c:ext>
          </c:extLst>
        </c:ser>
        <c:ser>
          <c:idx val="4"/>
          <c:order val="4"/>
          <c:tx>
            <c:strRef>
              <c:f>Лист1!$F$1</c:f>
              <c:strCache>
                <c:ptCount val="1"/>
                <c:pt idx="0">
                  <c:v>ул. Чертановская,  20к2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numRef>
              <c:f>Лист1!$A$2:$A$5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numCache>
            </c:numRef>
          </c:cat>
          <c:val>
            <c:numRef>
              <c:f>Лист1!$F$2:$F$5</c:f>
              <c:numCache>
                <c:formatCode>General</c:formatCode>
                <c:ptCount val="4"/>
                <c:pt idx="2">
                  <c:v>1823</c:v>
                </c:pt>
                <c:pt idx="3">
                  <c:v>3172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84D-4449-9C00-5883E74D72E1}"/>
            </c:ext>
          </c:extLst>
        </c:ser>
        <c:ser>
          <c:idx val="5"/>
          <c:order val="5"/>
          <c:tx>
            <c:strRef>
              <c:f>Лист1!$G$1</c:f>
              <c:strCache>
                <c:ptCount val="1"/>
                <c:pt idx="0">
                  <c:v>ул. Щорса, 26/3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numRef>
              <c:f>Лист1!$A$2:$A$5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numCache>
            </c:numRef>
          </c:cat>
          <c:val>
            <c:numRef>
              <c:f>Лист1!$G$2:$G$5</c:f>
              <c:numCache>
                <c:formatCode>General</c:formatCode>
                <c:ptCount val="4"/>
                <c:pt idx="0">
                  <c:v>1119</c:v>
                </c:pt>
                <c:pt idx="1">
                  <c:v>1070</c:v>
                </c:pt>
                <c:pt idx="2">
                  <c:v>1079</c:v>
                </c:pt>
                <c:pt idx="3">
                  <c:v>1036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584D-4449-9C00-5883E74D72E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overlap val="100"/>
        <c:axId val="188540880"/>
        <c:axId val="188531760"/>
      </c:barChart>
      <c:catAx>
        <c:axId val="18854088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dirty="0"/>
                  <a:t>день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none" spc="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88531760"/>
        <c:crosses val="autoZero"/>
        <c:auto val="1"/>
        <c:lblAlgn val="ctr"/>
        <c:lblOffset val="100"/>
        <c:noMultiLvlLbl val="0"/>
      </c:catAx>
      <c:valAx>
        <c:axId val="1885317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197" b="0" i="0" u="none" strike="noStrike" kern="1200" cap="all" baseline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</a:rPr>
                  <a:t>Доля количества транзакций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885408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cap="none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pPr>
            <a:r>
              <a:rPr lang="ru-RU" sz="1800" b="0" i="0" u="none" strike="noStrike" kern="1200" cap="none" spc="0" baseline="0" dirty="0">
                <a:solidFill>
                  <a:srgbClr val="000000">
                    <a:lumMod val="65000"/>
                    <a:lumOff val="35000"/>
                  </a:srgbClr>
                </a:solidFill>
                <a:latin typeface="+mj-lt"/>
              </a:rPr>
              <a:t>Количество транзакций </a:t>
            </a:r>
            <a:br>
              <a:rPr lang="ru-RU" sz="1800" b="0" i="0" u="none" strike="noStrike" kern="1200" cap="none" spc="0" baseline="0" dirty="0">
                <a:solidFill>
                  <a:srgbClr val="000000">
                    <a:lumMod val="65000"/>
                    <a:lumOff val="35000"/>
                  </a:srgbClr>
                </a:solidFill>
                <a:latin typeface="+mj-lt"/>
              </a:rPr>
            </a:br>
            <a:r>
              <a:rPr lang="ru-RU" sz="1800" b="0" i="0" u="none" strike="noStrike" kern="1200" cap="none" spc="0" baseline="0" dirty="0">
                <a:solidFill>
                  <a:srgbClr val="000000">
                    <a:lumMod val="65000"/>
                    <a:lumOff val="35000"/>
                  </a:srgbClr>
                </a:solidFill>
                <a:latin typeface="+mj-lt"/>
              </a:rPr>
              <a:t>по серверам в динамике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cap="none" spc="120" normalizeH="0" baseline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1</c:v>
                </c:pt>
              </c:strCache>
            </c:strRef>
          </c:tx>
          <c:spPr>
            <a:ln w="22225" cap="rnd">
              <a:solidFill>
                <a:schemeClr val="accent2"/>
              </a:solidFill>
              <a:round/>
            </a:ln>
            <a:effectLst/>
          </c:spPr>
          <c:marker>
            <c:symbol val="diamond"/>
            <c:size val="6"/>
            <c:spPr>
              <a:solidFill>
                <a:schemeClr val="accent2"/>
              </a:solidFill>
              <a:ln w="9525">
                <a:solidFill>
                  <a:schemeClr val="accent2"/>
                </a:solidFill>
                <a:round/>
              </a:ln>
              <a:effectLst/>
            </c:spPr>
          </c:marker>
          <c:cat>
            <c:numRef>
              <c:f>Лист1!$A$2:$A$5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numCache>
            </c:num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1974</c:v>
                </c:pt>
                <c:pt idx="1">
                  <c:v>1980</c:v>
                </c:pt>
                <c:pt idx="2">
                  <c:v>1306</c:v>
                </c:pt>
                <c:pt idx="3">
                  <c:v>1329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50F-472B-931C-DE572741A5C7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2</c:v>
                </c:pt>
              </c:strCache>
            </c:strRef>
          </c:tx>
          <c:spPr>
            <a:ln w="22225" cap="rnd">
              <a:solidFill>
                <a:schemeClr val="accent4"/>
              </a:solidFill>
              <a:round/>
            </a:ln>
            <a:effectLst/>
          </c:spPr>
          <c:marker>
            <c:symbol val="square"/>
            <c:size val="6"/>
            <c:spPr>
              <a:solidFill>
                <a:schemeClr val="accent4"/>
              </a:solidFill>
              <a:ln w="9525">
                <a:solidFill>
                  <a:schemeClr val="accent4"/>
                </a:solidFill>
                <a:round/>
              </a:ln>
              <a:effectLst/>
            </c:spPr>
          </c:marker>
          <c:cat>
            <c:numRef>
              <c:f>Лист1!$A$2:$A$5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numCache>
            </c:num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4467</c:v>
                </c:pt>
                <c:pt idx="1">
                  <c:v>4485</c:v>
                </c:pt>
                <c:pt idx="2">
                  <c:v>4272</c:v>
                </c:pt>
                <c:pt idx="3">
                  <c:v>4248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50F-472B-931C-DE572741A5C7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3</c:v>
                </c:pt>
              </c:strCache>
            </c:strRef>
          </c:tx>
          <c:spPr>
            <a:ln w="22225" cap="rnd">
              <a:solidFill>
                <a:schemeClr val="accent6"/>
              </a:solidFill>
              <a:round/>
            </a:ln>
            <a:effectLst/>
          </c:spPr>
          <c:marker>
            <c:symbol val="triangle"/>
            <c:size val="6"/>
            <c:spPr>
              <a:solidFill>
                <a:schemeClr val="accent6"/>
              </a:solidFill>
              <a:ln w="9525">
                <a:solidFill>
                  <a:schemeClr val="accent6"/>
                </a:solidFill>
                <a:round/>
              </a:ln>
              <a:effectLst/>
            </c:spPr>
          </c:marker>
          <c:dLbls>
            <c:dLbl>
              <c:idx val="0"/>
              <c:layout>
                <c:manualLayout>
                  <c:x val="-5.6632815585443912E-2"/>
                  <c:y val="3.791468679808977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42D0-4B7D-B753-6BC970F1578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Лист1!$A$2:$A$5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numCache>
            </c:numRef>
          </c:cat>
          <c:val>
            <c:numRef>
              <c:f>Лист1!$D$2:$D$5</c:f>
              <c:numCache>
                <c:formatCode>General</c:formatCode>
                <c:ptCount val="4"/>
                <c:pt idx="0">
                  <c:v>1408</c:v>
                </c:pt>
                <c:pt idx="1">
                  <c:v>1482</c:v>
                </c:pt>
                <c:pt idx="2">
                  <c:v>3211</c:v>
                </c:pt>
                <c:pt idx="3">
                  <c:v>4498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50F-472B-931C-DE572741A5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7987024"/>
        <c:axId val="147984144"/>
      </c:lineChart>
      <c:catAx>
        <c:axId val="14798702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dirty="0"/>
                  <a:t>день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64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47984144"/>
        <c:crosses val="autoZero"/>
        <c:auto val="1"/>
        <c:lblAlgn val="ctr"/>
        <c:lblOffset val="100"/>
        <c:noMultiLvlLbl val="0"/>
      </c:catAx>
      <c:valAx>
        <c:axId val="1479841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dirty="0"/>
                  <a:t>Количество транзакций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479870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cap="none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pPr>
            <a:r>
              <a:rPr lang="ru-RU" sz="1800" b="0" i="0" u="none" strike="noStrike" kern="1200" spc="0" baseline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Коэффициент роста нагрузки на сервера в динамике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cap="none" spc="120" normalizeH="0" baseline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1</c:v>
                </c:pt>
              </c:strCache>
            </c:strRef>
          </c:tx>
          <c:spPr>
            <a:ln w="22225" cap="rnd">
              <a:solidFill>
                <a:schemeClr val="accent2"/>
              </a:solidFill>
              <a:round/>
            </a:ln>
            <a:effectLst/>
          </c:spPr>
          <c:marker>
            <c:symbol val="diamond"/>
            <c:size val="6"/>
            <c:spPr>
              <a:solidFill>
                <a:schemeClr val="accent2"/>
              </a:solidFill>
              <a:ln w="9525">
                <a:solidFill>
                  <a:schemeClr val="accent2"/>
                </a:solidFill>
                <a:round/>
              </a:ln>
              <a:effectLst/>
            </c:spPr>
          </c:marker>
          <c:cat>
            <c:numRef>
              <c:f>Лист1!$A$2:$A$4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Лист1!$B$2:$B$4</c:f>
              <c:numCache>
                <c:formatCode>0%</c:formatCode>
                <c:ptCount val="3"/>
                <c:pt idx="0">
                  <c:v>1.0030395136778116</c:v>
                </c:pt>
                <c:pt idx="1">
                  <c:v>0.65959595959595962</c:v>
                </c:pt>
                <c:pt idx="2">
                  <c:v>1.0176110260336906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684-47A6-B006-BC5DFE13848A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2</c:v>
                </c:pt>
              </c:strCache>
            </c:strRef>
          </c:tx>
          <c:spPr>
            <a:ln w="22225" cap="rnd">
              <a:solidFill>
                <a:schemeClr val="accent4"/>
              </a:solidFill>
              <a:round/>
            </a:ln>
            <a:effectLst/>
          </c:spPr>
          <c:marker>
            <c:symbol val="square"/>
            <c:size val="6"/>
            <c:spPr>
              <a:solidFill>
                <a:schemeClr val="accent4"/>
              </a:solidFill>
              <a:ln w="9525">
                <a:solidFill>
                  <a:schemeClr val="accent4"/>
                </a:solidFill>
                <a:round/>
              </a:ln>
              <a:effectLst/>
            </c:spPr>
          </c:marker>
          <c:cat>
            <c:numRef>
              <c:f>Лист1!$A$2:$A$4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Лист1!$C$2:$C$4</c:f>
              <c:numCache>
                <c:formatCode>0%</c:formatCode>
                <c:ptCount val="3"/>
                <c:pt idx="0">
                  <c:v>1.0040295500335796</c:v>
                </c:pt>
                <c:pt idx="1">
                  <c:v>0.95250836120401339</c:v>
                </c:pt>
                <c:pt idx="2">
                  <c:v>0.9943820224719101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684-47A6-B006-BC5DFE13848A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3</c:v>
                </c:pt>
              </c:strCache>
            </c:strRef>
          </c:tx>
          <c:spPr>
            <a:ln w="22225" cap="rnd">
              <a:solidFill>
                <a:schemeClr val="accent6"/>
              </a:solidFill>
              <a:round/>
            </a:ln>
            <a:effectLst/>
          </c:spPr>
          <c:marker>
            <c:symbol val="triangle"/>
            <c:size val="6"/>
            <c:spPr>
              <a:solidFill>
                <a:schemeClr val="accent6"/>
              </a:solidFill>
              <a:ln w="9525">
                <a:solidFill>
                  <a:schemeClr val="accent6"/>
                </a:solidFill>
                <a:round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Лист1!$A$2:$A$4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Лист1!$D$2:$D$4</c:f>
              <c:numCache>
                <c:formatCode>0%</c:formatCode>
                <c:ptCount val="3"/>
                <c:pt idx="0">
                  <c:v>1.0525568181818181</c:v>
                </c:pt>
                <c:pt idx="1">
                  <c:v>2.1666666666666665</c:v>
                </c:pt>
                <c:pt idx="2">
                  <c:v>1.4008097165991902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684-47A6-B006-BC5DFE1384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7987024"/>
        <c:axId val="147984144"/>
      </c:lineChart>
      <c:catAx>
        <c:axId val="14798702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dirty="0"/>
                  <a:t>день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64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47984144"/>
        <c:crosses val="autoZero"/>
        <c:auto val="1"/>
        <c:lblAlgn val="ctr"/>
        <c:lblOffset val="100"/>
        <c:noMultiLvlLbl val="0"/>
      </c:catAx>
      <c:valAx>
        <c:axId val="1479841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dirty="0"/>
                  <a:t>Рост Кол-ва транзакций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%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479870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cap="none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pPr>
            <a:r>
              <a:rPr lang="ru-RU" sz="1800" b="0" i="0" u="none" strike="noStrike" kern="1200" cap="none" spc="0" baseline="0" dirty="0">
                <a:solidFill>
                  <a:srgbClr val="000000">
                    <a:lumMod val="65000"/>
                    <a:lumOff val="35000"/>
                  </a:srgbClr>
                </a:solidFill>
                <a:latin typeface="+mj-lt"/>
              </a:rPr>
              <a:t>Количество транзакций </a:t>
            </a:r>
            <a:br>
              <a:rPr lang="ru-RU" sz="1800" b="0" i="0" u="none" strike="noStrike" kern="1200" cap="none" spc="0" baseline="0" dirty="0">
                <a:solidFill>
                  <a:srgbClr val="000000">
                    <a:lumMod val="65000"/>
                    <a:lumOff val="35000"/>
                  </a:srgbClr>
                </a:solidFill>
                <a:latin typeface="+mj-lt"/>
              </a:rPr>
            </a:br>
            <a:r>
              <a:rPr lang="ru-RU" sz="1800" b="0" i="0" u="none" strike="noStrike" kern="1200" cap="none" spc="0" baseline="0" dirty="0">
                <a:solidFill>
                  <a:srgbClr val="000000">
                    <a:lumMod val="65000"/>
                    <a:lumOff val="35000"/>
                  </a:srgbClr>
                </a:solidFill>
                <a:latin typeface="+mj-lt"/>
              </a:rPr>
              <a:t>по серверам в динамике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cap="none" spc="120" normalizeH="0" baseline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1</c:v>
                </c:pt>
              </c:strCache>
            </c:strRef>
          </c:tx>
          <c:spPr>
            <a:ln w="2222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Лист1!$A$2:$A$5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numCache>
            </c:num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1974</c:v>
                </c:pt>
                <c:pt idx="1">
                  <c:v>1980</c:v>
                </c:pt>
                <c:pt idx="2">
                  <c:v>2694</c:v>
                </c:pt>
                <c:pt idx="3">
                  <c:v>2655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50F-472B-931C-DE572741A5C7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2</c:v>
                </c:pt>
              </c:strCache>
            </c:strRef>
          </c:tx>
          <c:spPr>
            <a:ln w="2222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Лист1!$A$2:$A$5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numCache>
            </c:num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4467</c:v>
                </c:pt>
                <c:pt idx="1">
                  <c:v>4485</c:v>
                </c:pt>
                <c:pt idx="2">
                  <c:v>4272</c:v>
                </c:pt>
                <c:pt idx="3">
                  <c:v>4248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50F-472B-931C-DE572741A5C7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3</c:v>
                </c:pt>
              </c:strCache>
            </c:strRef>
          </c:tx>
          <c:spPr>
            <a:ln w="22225" cap="rnd">
              <a:solidFill>
                <a:schemeClr val="accent6"/>
              </a:solidFill>
              <a:round/>
            </a:ln>
            <a:effectLst/>
          </c:spPr>
          <c:marker>
            <c:symbol val="triangle"/>
            <c:size val="6"/>
            <c:spPr>
              <a:solidFill>
                <a:schemeClr val="accent6"/>
              </a:solidFill>
              <a:ln w="9525">
                <a:solidFill>
                  <a:schemeClr val="accent6"/>
                </a:solidFill>
                <a:round/>
              </a:ln>
              <a:effectLst/>
            </c:spPr>
          </c:marker>
          <c:dLbls>
            <c:dLbl>
              <c:idx val="3"/>
              <c:layout>
                <c:manualLayout>
                  <c:x val="-9.3321030899492351E-3"/>
                  <c:y val="2.690232937848139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10E8-442B-B4F1-2640651AB01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Лист1!$A$2:$A$5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numCache>
            </c:numRef>
          </c:cat>
          <c:val>
            <c:numRef>
              <c:f>Лист1!$D$2:$D$5</c:f>
              <c:numCache>
                <c:formatCode>General</c:formatCode>
                <c:ptCount val="4"/>
                <c:pt idx="0">
                  <c:v>1408</c:v>
                </c:pt>
                <c:pt idx="1">
                  <c:v>1482</c:v>
                </c:pt>
                <c:pt idx="2">
                  <c:v>1823</c:v>
                </c:pt>
                <c:pt idx="3">
                  <c:v>3172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50F-472B-931C-DE572741A5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47987024"/>
        <c:axId val="147984144"/>
      </c:lineChart>
      <c:catAx>
        <c:axId val="14798702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dirty="0"/>
                  <a:t>день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64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47984144"/>
        <c:crosses val="autoZero"/>
        <c:auto val="1"/>
        <c:lblAlgn val="ctr"/>
        <c:lblOffset val="100"/>
        <c:noMultiLvlLbl val="0"/>
      </c:catAx>
      <c:valAx>
        <c:axId val="1479841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dirty="0"/>
                  <a:t>Количество транзакций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479870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cap="none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pPr>
            <a:r>
              <a:rPr lang="ru-RU" sz="1800" b="0" i="0" u="none" strike="noStrike" kern="1200" spc="0" baseline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Коэффициент роста нагрузки на сервера в динамике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cap="none" spc="120" normalizeH="0" baseline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1</c:v>
                </c:pt>
              </c:strCache>
            </c:strRef>
          </c:tx>
          <c:spPr>
            <a:ln w="2222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Лист1!$A$2:$A$4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Лист1!$B$2:$B$4</c:f>
              <c:numCache>
                <c:formatCode>0%</c:formatCode>
                <c:ptCount val="3"/>
                <c:pt idx="0">
                  <c:v>1.0030395136778116</c:v>
                </c:pt>
                <c:pt idx="1">
                  <c:v>1.3606060606060606</c:v>
                </c:pt>
                <c:pt idx="2">
                  <c:v>0.98552338530066819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684-47A6-B006-BC5DFE13848A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2</c:v>
                </c:pt>
              </c:strCache>
            </c:strRef>
          </c:tx>
          <c:spPr>
            <a:ln w="2222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Лист1!$A$2:$A$4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Лист1!$C$2:$C$4</c:f>
              <c:numCache>
                <c:formatCode>0%</c:formatCode>
                <c:ptCount val="3"/>
                <c:pt idx="0">
                  <c:v>1.0040295500335796</c:v>
                </c:pt>
                <c:pt idx="1">
                  <c:v>0.95250836120401339</c:v>
                </c:pt>
                <c:pt idx="2">
                  <c:v>0.9943820224719101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684-47A6-B006-BC5DFE13848A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3</c:v>
                </c:pt>
              </c:strCache>
            </c:strRef>
          </c:tx>
          <c:spPr>
            <a:ln w="22225" cap="rnd">
              <a:solidFill>
                <a:schemeClr val="accent6"/>
              </a:solidFill>
              <a:round/>
            </a:ln>
            <a:effectLst/>
          </c:spPr>
          <c:marker>
            <c:symbol val="triangle"/>
            <c:size val="6"/>
            <c:spPr>
              <a:solidFill>
                <a:schemeClr val="accent6"/>
              </a:solidFill>
              <a:ln w="9525">
                <a:solidFill>
                  <a:schemeClr val="accent6"/>
                </a:solidFill>
                <a:round/>
              </a:ln>
              <a:effectLst/>
            </c:spPr>
          </c:marker>
          <c:dLbls>
            <c:dLbl>
              <c:idx val="1"/>
              <c:layout>
                <c:manualLayout>
                  <c:x val="-4.2970851144122114E-2"/>
                  <c:y val="4.203373620062806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C2F3-45E6-9674-0EA98AF8742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Лист1!$A$2:$A$4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Лист1!$D$2:$D$4</c:f>
              <c:numCache>
                <c:formatCode>0%</c:formatCode>
                <c:ptCount val="3"/>
                <c:pt idx="0">
                  <c:v>1.0525568181818181</c:v>
                </c:pt>
                <c:pt idx="1">
                  <c:v>1.2300944669365721</c:v>
                </c:pt>
                <c:pt idx="2">
                  <c:v>1.7399890290729567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684-47A6-B006-BC5DFE1384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47987024"/>
        <c:axId val="147984144"/>
      </c:lineChart>
      <c:catAx>
        <c:axId val="14798702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dirty="0"/>
                  <a:t>день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64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47984144"/>
        <c:crosses val="autoZero"/>
        <c:auto val="1"/>
        <c:lblAlgn val="ctr"/>
        <c:lblOffset val="100"/>
        <c:noMultiLvlLbl val="0"/>
      </c:catAx>
      <c:valAx>
        <c:axId val="1479841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dirty="0"/>
                  <a:t>Рост Кол-ва транзакций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%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479870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cap="none" spc="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ru-RU" sz="1800" b="0" i="0" u="none" strike="noStrike" kern="1200" spc="0" baseline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Распределение количества транзакций </a:t>
            </a:r>
            <a:br>
              <a:rPr lang="ru-RU" sz="1800" b="0" i="0" u="none" strike="noStrike" kern="1200" spc="0" baseline="0" dirty="0">
                <a:solidFill>
                  <a:srgbClr val="000000">
                    <a:lumMod val="65000"/>
                    <a:lumOff val="35000"/>
                  </a:srgbClr>
                </a:solidFill>
              </a:rPr>
            </a:br>
            <a:r>
              <a:rPr lang="ru-RU" sz="1800" b="0" i="0" u="none" strike="noStrike" kern="1200" spc="0" baseline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по типам касс и по адресам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cap="none" spc="0" normalizeH="0" baseline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+mj-ea"/>
              <a:cs typeface="+mj-cs"/>
            </a:defRPr>
          </a:pPr>
          <a:endParaRPr lang="ru-RU"/>
        </a:p>
      </c:txPr>
    </c:title>
    <c:autoTitleDeleted val="0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Обычная касса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Лист1!$A$2:$A$7</c:f>
              <c:strCache>
                <c:ptCount val="6"/>
                <c:pt idx="0">
                  <c:v>Ленинский пр-т, 162/1</c:v>
                </c:pt>
                <c:pt idx="1">
                  <c:v>пр-т Вернадского, 88к3</c:v>
                </c:pt>
                <c:pt idx="2">
                  <c:v>Ракетный б-р, 14к1</c:v>
                </c:pt>
                <c:pt idx="3">
                  <c:v>Симферопольский б-р, 22</c:v>
                </c:pt>
                <c:pt idx="4">
                  <c:v>ул. Чертановская,  20к2</c:v>
                </c:pt>
                <c:pt idx="5">
                  <c:v>ул. Щорса, 26/3</c:v>
                </c:pt>
              </c:strCache>
            </c:strRef>
          </c:cat>
          <c:val>
            <c:numRef>
              <c:f>Лист1!$B$2:$B$7</c:f>
              <c:numCache>
                <c:formatCode>General</c:formatCode>
                <c:ptCount val="6"/>
                <c:pt idx="0">
                  <c:v>9456</c:v>
                </c:pt>
                <c:pt idx="1">
                  <c:v>4868</c:v>
                </c:pt>
                <c:pt idx="2">
                  <c:v>5604</c:v>
                </c:pt>
                <c:pt idx="3">
                  <c:v>455</c:v>
                </c:pt>
                <c:pt idx="4">
                  <c:v>1255</c:v>
                </c:pt>
                <c:pt idx="5">
                  <c:v>3112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84D-4449-9C00-5883E74D72E1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Касса самообслуживания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Лист1!$A$2:$A$7</c:f>
              <c:strCache>
                <c:ptCount val="6"/>
                <c:pt idx="0">
                  <c:v>Ленинский пр-т, 162/1</c:v>
                </c:pt>
                <c:pt idx="1">
                  <c:v>пр-т Вернадского, 88к3</c:v>
                </c:pt>
                <c:pt idx="2">
                  <c:v>Ракетный б-р, 14к1</c:v>
                </c:pt>
                <c:pt idx="3">
                  <c:v>Симферопольский б-р, 22</c:v>
                </c:pt>
                <c:pt idx="4">
                  <c:v>ул. Чертановская,  20к2</c:v>
                </c:pt>
                <c:pt idx="5">
                  <c:v>ул. Щорса, 26/3</c:v>
                </c:pt>
              </c:strCache>
            </c:strRef>
          </c:cat>
          <c:val>
            <c:numRef>
              <c:f>Лист1!$C$2:$C$7</c:f>
              <c:numCache>
                <c:formatCode>General</c:formatCode>
                <c:ptCount val="6"/>
                <c:pt idx="0">
                  <c:v>1387</c:v>
                </c:pt>
                <c:pt idx="1">
                  <c:v>1761</c:v>
                </c:pt>
                <c:pt idx="3">
                  <c:v>1830</c:v>
                </c:pt>
                <c:pt idx="4">
                  <c:v>3740</c:v>
                </c:pt>
                <c:pt idx="5">
                  <c:v>1192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84D-4449-9C00-5883E74D72E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overlap val="100"/>
        <c:axId val="188540880"/>
        <c:axId val="188531760"/>
      </c:barChart>
      <c:catAx>
        <c:axId val="188540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none" spc="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88531760"/>
        <c:crosses val="autoZero"/>
        <c:auto val="1"/>
        <c:lblAlgn val="ctr"/>
        <c:lblOffset val="100"/>
        <c:noMultiLvlLbl val="0"/>
      </c:catAx>
      <c:valAx>
        <c:axId val="1885317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197" b="0" i="0" u="none" strike="noStrike" kern="1200" cap="all" baseline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</a:rPr>
                  <a:t>Доля типа касс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885408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cap="none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pPr>
            <a:r>
              <a:rPr lang="ru-RU" sz="1800" b="0" i="0" u="none" strike="noStrike" kern="1200" spc="0" baseline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Доля транзакций, прошедших через кассы самообслуживания в динамике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cap="none" spc="120" normalizeH="0" baseline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Лист1!$B$2</c:f>
              <c:strCache>
                <c:ptCount val="1"/>
              </c:strCache>
            </c:strRef>
          </c:tx>
          <c:spPr>
            <a:ln w="22225" cap="rnd">
              <a:solidFill>
                <a:schemeClr val="accent2"/>
              </a:solidFill>
              <a:round/>
            </a:ln>
            <a:effectLst/>
          </c:spPr>
          <c:marker>
            <c:symbol val="diamond"/>
            <c:size val="6"/>
            <c:spPr>
              <a:solidFill>
                <a:schemeClr val="accent2"/>
              </a:solidFill>
              <a:ln w="9525">
                <a:solidFill>
                  <a:schemeClr val="accent2"/>
                </a:solidFill>
                <a:round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Лист1!$A$3:$A$6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numCache>
            </c:numRef>
          </c:cat>
          <c:val>
            <c:numRef>
              <c:f>Лист1!$B$3:$B$6</c:f>
              <c:numCache>
                <c:formatCode>0.00%</c:formatCode>
                <c:ptCount val="4"/>
                <c:pt idx="0">
                  <c:v>0.23085743406803413</c:v>
                </c:pt>
                <c:pt idx="1">
                  <c:v>0.22876557191392979</c:v>
                </c:pt>
                <c:pt idx="2">
                  <c:v>0.30071680509728071</c:v>
                </c:pt>
                <c:pt idx="3">
                  <c:v>0.36099255583126549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50F-472B-931C-DE572741A5C7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47987024"/>
        <c:axId val="147984144"/>
      </c:lineChart>
      <c:catAx>
        <c:axId val="14798702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dirty="0"/>
                  <a:t>день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64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47984144"/>
        <c:crosses val="autoZero"/>
        <c:auto val="1"/>
        <c:lblAlgn val="ctr"/>
        <c:lblOffset val="100"/>
        <c:noMultiLvlLbl val="0"/>
      </c:catAx>
      <c:valAx>
        <c:axId val="1479841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200" b="0" i="0" u="none" strike="noStrike" kern="1200" baseline="0" dirty="0">
                    <a:solidFill>
                      <a:srgbClr val="000000">
                        <a:lumMod val="65000"/>
                        <a:lumOff val="35000"/>
                      </a:srgbClr>
                    </a:solidFill>
                  </a:rPr>
                  <a:t>Доля транзакций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0%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479870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cap="none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pPr>
            <a:r>
              <a:rPr lang="ru-RU" sz="1800" b="0" i="0" u="none" strike="noStrike" kern="1200" spc="0" baseline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Динамика средней длительности платежа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cap="none" spc="120" normalizeH="0" baseline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Среднее по полю len</c:v>
                </c:pt>
              </c:strCache>
            </c:strRef>
          </c:tx>
          <c:spPr>
            <a:ln w="22225" cap="rnd">
              <a:solidFill>
                <a:schemeClr val="accent2"/>
              </a:solidFill>
              <a:round/>
            </a:ln>
            <a:effectLst/>
          </c:spPr>
          <c:marker>
            <c:symbol val="diamond"/>
            <c:size val="6"/>
            <c:spPr>
              <a:solidFill>
                <a:schemeClr val="accent2"/>
              </a:solidFill>
              <a:ln w="9525">
                <a:solidFill>
                  <a:schemeClr val="accent2"/>
                </a:solidFill>
                <a:round/>
              </a:ln>
              <a:effectLst/>
            </c:spPr>
          </c:marker>
          <c:dLbls>
            <c:numFmt formatCode="#,##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Лист1!$A$2:$A$5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numCache>
            </c:num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124.70721337497949</c:v>
                </c:pt>
                <c:pt idx="1">
                  <c:v>80.103562879249552</c:v>
                </c:pt>
                <c:pt idx="2">
                  <c:v>85.846029801290712</c:v>
                </c:pt>
                <c:pt idx="3">
                  <c:v>90.399798698626256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684-47A6-B006-BC5DFE13848A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47987024"/>
        <c:axId val="147984144"/>
      </c:lineChart>
      <c:catAx>
        <c:axId val="14798702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dirty="0"/>
                  <a:t>день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64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47984144"/>
        <c:crosses val="autoZero"/>
        <c:auto val="1"/>
        <c:lblAlgn val="ctr"/>
        <c:lblOffset val="100"/>
        <c:noMultiLvlLbl val="0"/>
      </c:catAx>
      <c:valAx>
        <c:axId val="1479841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200" b="0" i="0" u="none" strike="noStrike" kern="1200" baseline="0" dirty="0">
                    <a:solidFill>
                      <a:srgbClr val="000000">
                        <a:lumMod val="65000"/>
                        <a:lumOff val="35000"/>
                      </a:srgbClr>
                    </a:solidFill>
                  </a:rPr>
                  <a:t>Средняя длительность, сек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479870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cap="none" spc="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ru-RU" sz="1800" b="0" i="0" u="none" strike="noStrike" kern="1200" spc="0" baseline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Динамика средней длительности </a:t>
            </a:r>
            <a:br>
              <a:rPr lang="ru-RU" sz="1800" b="0" i="0" u="none" strike="noStrike" kern="1200" spc="0" baseline="0" dirty="0">
                <a:solidFill>
                  <a:srgbClr val="000000">
                    <a:lumMod val="65000"/>
                    <a:lumOff val="35000"/>
                  </a:srgbClr>
                </a:solidFill>
              </a:rPr>
            </a:br>
            <a:r>
              <a:rPr lang="ru-RU" sz="1800" b="0" i="0" u="none" strike="noStrike" kern="1200" spc="0" baseline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платежа по часам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cap="none" spc="0" normalizeH="0" baseline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+mj-ea"/>
              <a:cs typeface="+mj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Среднее по полю len</c:v>
                </c:pt>
              </c:strCache>
            </c:strRef>
          </c:tx>
          <c:spPr>
            <a:ln w="3810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8"/>
            <c:spPr>
              <a:solidFill>
                <a:schemeClr val="accent1"/>
              </a:solidFill>
              <a:ln>
                <a:noFill/>
              </a:ln>
              <a:effectLst/>
            </c:spPr>
          </c:marker>
          <c:dLbls>
            <c:dLbl>
              <c:idx val="0"/>
              <c:layout>
                <c:manualLayout>
                  <c:x val="-3.9331356728557094E-2"/>
                  <c:y val="2.781769216958629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E84D-412B-BDCC-CEB8F199C524}"/>
                </c:ext>
              </c:extLst>
            </c:dLbl>
            <c:dLbl>
              <c:idx val="1"/>
              <c:layout>
                <c:manualLayout>
                  <c:x val="-4.0360163312919216E-2"/>
                  <c:y val="-2.820836646233553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1C65-447E-96F7-A71457BD2373}"/>
                </c:ext>
              </c:extLst>
            </c:dLbl>
            <c:dLbl>
              <c:idx val="2"/>
              <c:layout>
                <c:manualLayout>
                  <c:x val="-3.7273743559832796E-2"/>
                  <c:y val="2.521182897740388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84D-412B-BDCC-CEB8F199C524}"/>
                </c:ext>
              </c:extLst>
            </c:dLbl>
            <c:dLbl>
              <c:idx val="3"/>
              <c:layout>
                <c:manualLayout>
                  <c:x val="-4.2417776481643535E-2"/>
                  <c:y val="-2.820836646233557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C65-447E-96F7-A71457BD2373}"/>
                </c:ext>
              </c:extLst>
            </c:dLbl>
            <c:dLbl>
              <c:idx val="4"/>
              <c:layout>
                <c:manualLayout>
                  <c:x val="-3.5216130391108554E-2"/>
                  <c:y val="2.260596578522137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E84D-412B-BDCC-CEB8F199C524}"/>
                </c:ext>
              </c:extLst>
            </c:dLbl>
            <c:dLbl>
              <c:idx val="5"/>
              <c:layout>
                <c:manualLayout>
                  <c:x val="-4.1388969897281434E-2"/>
                  <c:y val="-3.2117161250609143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1C65-447E-96F7-A71457BD2373}"/>
                </c:ext>
              </c:extLst>
            </c:dLbl>
            <c:dLbl>
              <c:idx val="6"/>
              <c:layout>
                <c:manualLayout>
                  <c:x val="-3.1100904053659961E-2"/>
                  <c:y val="-2.169370848187950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84D-412B-BDCC-CEB8F199C524}"/>
                </c:ext>
              </c:extLst>
            </c:dLbl>
            <c:dLbl>
              <c:idx val="7"/>
              <c:layout>
                <c:manualLayout>
                  <c:x val="-4.7561809403454197E-2"/>
                  <c:y val="2.2605965785221473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E84D-412B-BDCC-CEB8F199C524}"/>
                </c:ext>
              </c:extLst>
            </c:dLbl>
            <c:dLbl>
              <c:idx val="8"/>
              <c:layout>
                <c:manualLayout>
                  <c:x val="-4.1388969897281358E-2"/>
                  <c:y val="-2.690543486624432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C65-447E-96F7-A71457BD2373}"/>
                </c:ext>
              </c:extLst>
            </c:dLbl>
            <c:dLbl>
              <c:idx val="9"/>
              <c:layout>
                <c:manualLayout>
                  <c:x val="-3.7273743559832796E-2"/>
                  <c:y val="-2.690543486624427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E84D-412B-BDCC-CEB8F199C524}"/>
                </c:ext>
              </c:extLst>
            </c:dLbl>
            <c:dLbl>
              <c:idx val="10"/>
              <c:layout>
                <c:manualLayout>
                  <c:x val="-3.5216130391108595E-2"/>
                  <c:y val="2.2605965785221473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84D-412B-BDCC-CEB8F199C524}"/>
                </c:ext>
              </c:extLst>
            </c:dLbl>
            <c:dLbl>
              <c:idx val="11"/>
              <c:layout>
                <c:manualLayout>
                  <c:x val="-5.1677035740902835E-2"/>
                  <c:y val="-2.690543486624434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E84D-412B-BDCC-CEB8F199C524}"/>
                </c:ext>
              </c:extLst>
            </c:dLbl>
            <c:dLbl>
              <c:idx val="12"/>
              <c:layout>
                <c:manualLayout>
                  <c:x val="-3.7273743559832796E-2"/>
                  <c:y val="2.521182897740383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84D-412B-BDCC-CEB8F199C524}"/>
                </c:ext>
              </c:extLst>
            </c:dLbl>
            <c:dLbl>
              <c:idx val="13"/>
              <c:layout>
                <c:manualLayout>
                  <c:x val="-4.3446583066005712E-2"/>
                  <c:y val="-2.429957167406191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E84D-412B-BDCC-CEB8F199C524}"/>
                </c:ext>
              </c:extLst>
            </c:dLbl>
            <c:dLbl>
              <c:idx val="14"/>
              <c:layout>
                <c:manualLayout>
                  <c:x val="-3.7273743559832796E-2"/>
                  <c:y val="2.521182897740388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E84D-412B-BDCC-CEB8F199C524}"/>
                </c:ext>
              </c:extLst>
            </c:dLbl>
            <c:dLbl>
              <c:idx val="15"/>
              <c:layout>
                <c:manualLayout>
                  <c:x val="-3.7273743559832796E-2"/>
                  <c:y val="-2.429957167406191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E84D-412B-BDCC-CEB8F199C524}"/>
                </c:ext>
              </c:extLst>
            </c:dLbl>
            <c:dLbl>
              <c:idx val="16"/>
              <c:layout>
                <c:manualLayout>
                  <c:x val="-4.550419623472992E-2"/>
                  <c:y val="2.2605965785221473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E84D-412B-BDCC-CEB8F199C524}"/>
                </c:ext>
              </c:extLst>
            </c:dLbl>
            <c:dLbl>
              <c:idx val="17"/>
              <c:layout>
                <c:manualLayout>
                  <c:x val="-4.2417776481643348E-2"/>
                  <c:y val="-2.560250327015312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C65-447E-96F7-A71457BD2373}"/>
                </c:ext>
              </c:extLst>
            </c:dLbl>
            <c:dLbl>
              <c:idx val="18"/>
              <c:layout>
                <c:manualLayout>
                  <c:x val="-3.7273743559832949E-2"/>
                  <c:y val="2.521182897740383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E84D-412B-BDCC-CEB8F199C524}"/>
                </c:ext>
              </c:extLst>
            </c:dLbl>
            <c:dLbl>
              <c:idx val="19"/>
              <c:layout>
                <c:manualLayout>
                  <c:x val="-4.6533002819092055E-2"/>
                  <c:y val="-2.560250327015312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1C65-447E-96F7-A71457BD2373}"/>
                </c:ext>
              </c:extLst>
            </c:dLbl>
            <c:dLbl>
              <c:idx val="20"/>
              <c:layout>
                <c:manualLayout>
                  <c:x val="-3.7273743559832796E-2"/>
                  <c:y val="2.521182897740388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E84D-412B-BDCC-CEB8F199C524}"/>
                </c:ext>
              </c:extLst>
            </c:dLbl>
            <c:dLbl>
              <c:idx val="21"/>
              <c:layout>
                <c:manualLayout>
                  <c:x val="-3.8302550144194938E-2"/>
                  <c:y val="-2.560250327015312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1C65-447E-96F7-A71457BD2373}"/>
                </c:ext>
              </c:extLst>
            </c:dLbl>
            <c:dLbl>
              <c:idx val="22"/>
              <c:layout>
                <c:manualLayout>
                  <c:x val="-3.7273743559832796E-2"/>
                  <c:y val="2.260596578522152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E84D-412B-BDCC-CEB8F199C524}"/>
                </c:ext>
              </c:extLst>
            </c:dLbl>
            <c:dLbl>
              <c:idx val="23"/>
              <c:layout>
                <c:manualLayout>
                  <c:x val="-1.3755387058099219E-2"/>
                  <c:y val="-2.820836646233557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1C65-447E-96F7-A71457BD2373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Лист1!$A$2:$A$25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Лист1!$B$2:$B$25</c:f>
              <c:numCache>
                <c:formatCode>0.00</c:formatCode>
                <c:ptCount val="24"/>
                <c:pt idx="0">
                  <c:v>108.23846194962971</c:v>
                </c:pt>
                <c:pt idx="1">
                  <c:v>108.83816755287206</c:v>
                </c:pt>
                <c:pt idx="2">
                  <c:v>105.55102535917496</c:v>
                </c:pt>
                <c:pt idx="3">
                  <c:v>123.19181703755424</c:v>
                </c:pt>
                <c:pt idx="4">
                  <c:v>119.37089645574481</c:v>
                </c:pt>
                <c:pt idx="5">
                  <c:v>132.30696532460624</c:v>
                </c:pt>
                <c:pt idx="6">
                  <c:v>122.83836644471073</c:v>
                </c:pt>
                <c:pt idx="7">
                  <c:v>104.74681621536043</c:v>
                </c:pt>
                <c:pt idx="8">
                  <c:v>113.91047680802542</c:v>
                </c:pt>
                <c:pt idx="9">
                  <c:v>108.43998988228924</c:v>
                </c:pt>
                <c:pt idx="10">
                  <c:v>106.41719787666077</c:v>
                </c:pt>
                <c:pt idx="11">
                  <c:v>151.26368811827015</c:v>
                </c:pt>
                <c:pt idx="12">
                  <c:v>150.60094517288388</c:v>
                </c:pt>
                <c:pt idx="13">
                  <c:v>157.61063765106533</c:v>
                </c:pt>
                <c:pt idx="14">
                  <c:v>150.00527080891385</c:v>
                </c:pt>
                <c:pt idx="15">
                  <c:v>155.45008351900063</c:v>
                </c:pt>
                <c:pt idx="16">
                  <c:v>111.37582362787542</c:v>
                </c:pt>
                <c:pt idx="17">
                  <c:v>112.458206576745</c:v>
                </c:pt>
                <c:pt idx="18">
                  <c:v>114.00976840519456</c:v>
                </c:pt>
                <c:pt idx="19">
                  <c:v>117.05270322075543</c:v>
                </c:pt>
                <c:pt idx="20">
                  <c:v>121.09785640282156</c:v>
                </c:pt>
                <c:pt idx="21">
                  <c:v>121.79109507508008</c:v>
                </c:pt>
                <c:pt idx="22">
                  <c:v>118.23051085113224</c:v>
                </c:pt>
                <c:pt idx="23">
                  <c:v>127.27393866964401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84D-4449-9C00-5883E74D72E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8540880"/>
        <c:axId val="188531760"/>
      </c:lineChart>
      <c:catAx>
        <c:axId val="18854088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dirty="0"/>
                  <a:t>час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none" spc="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88531760"/>
        <c:crosses val="autoZero"/>
        <c:auto val="1"/>
        <c:lblAlgn val="ctr"/>
        <c:lblOffset val="100"/>
        <c:noMultiLvlLbl val="0"/>
      </c:catAx>
      <c:valAx>
        <c:axId val="188531760"/>
        <c:scaling>
          <c:orientation val="minMax"/>
          <c:max val="17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200" b="0" i="0" u="none" strike="noStrike" kern="1200" baseline="0" dirty="0">
                    <a:solidFill>
                      <a:srgbClr val="000000">
                        <a:lumMod val="65000"/>
                        <a:lumOff val="35000"/>
                      </a:srgbClr>
                    </a:solidFill>
                  </a:rPr>
                  <a:t>Средняя длительность, сек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885408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cap="none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pPr>
            <a:r>
              <a:rPr lang="ru-RU" sz="1800" b="0" i="0" u="none" strike="noStrike" kern="1200" spc="0" baseline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Средняя длительность платежа </a:t>
            </a:r>
            <a:br>
              <a:rPr lang="ru-RU" sz="1800" b="0" i="0" u="none" strike="noStrike" kern="1200" spc="0" baseline="0" dirty="0">
                <a:solidFill>
                  <a:srgbClr val="000000">
                    <a:lumMod val="65000"/>
                    <a:lumOff val="35000"/>
                  </a:srgbClr>
                </a:solidFill>
              </a:rPr>
            </a:br>
            <a:r>
              <a:rPr lang="ru-RU" sz="1800" b="0" i="0" u="none" strike="noStrike" kern="1200" spc="0" baseline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в динамике по адресам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cap="none" spc="120" normalizeH="0" baseline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Ленинский пр-т, 162/1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diamond"/>
            <c:size val="6"/>
            <c:spPr>
              <a:solidFill>
                <a:schemeClr val="accent2"/>
              </a:solidFill>
              <a:ln w="9525">
                <a:solidFill>
                  <a:schemeClr val="accent2"/>
                </a:solidFill>
                <a:round/>
              </a:ln>
              <a:effectLst/>
            </c:spPr>
          </c:marker>
          <c:dPt>
            <c:idx val="0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41-7643-4929-B49B-6D70A1D6C3F1}"/>
              </c:ext>
            </c:extLst>
          </c:dPt>
          <c:dPt>
            <c:idx val="1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40-7643-4929-B49B-6D70A1D6C3F1}"/>
              </c:ext>
            </c:extLst>
          </c:dPt>
          <c:dPt>
            <c:idx val="2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3F-7643-4929-B49B-6D70A1D6C3F1}"/>
              </c:ext>
            </c:extLst>
          </c:dPt>
          <c:dPt>
            <c:idx val="3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3E-7643-4929-B49B-6D70A1D6C3F1}"/>
              </c:ext>
            </c:extLst>
          </c:dPt>
          <c:dPt>
            <c:idx val="4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3D-7643-4929-B49B-6D70A1D6C3F1}"/>
              </c:ext>
            </c:extLst>
          </c:dPt>
          <c:dPt>
            <c:idx val="5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3C-7643-4929-B49B-6D70A1D6C3F1}"/>
              </c:ext>
            </c:extLst>
          </c:dPt>
          <c:dPt>
            <c:idx val="6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3B-7643-4929-B49B-6D70A1D6C3F1}"/>
              </c:ext>
            </c:extLst>
          </c:dPt>
          <c:dPt>
            <c:idx val="7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3A-7643-4929-B49B-6D70A1D6C3F1}"/>
              </c:ext>
            </c:extLst>
          </c:dPt>
          <c:dPt>
            <c:idx val="8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39-7643-4929-B49B-6D70A1D6C3F1}"/>
              </c:ext>
            </c:extLst>
          </c:dPt>
          <c:dPt>
            <c:idx val="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38-7643-4929-B49B-6D70A1D6C3F1}"/>
              </c:ext>
            </c:extLst>
          </c:dPt>
          <c:dPt>
            <c:idx val="17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37-7643-4929-B49B-6D70A1D6C3F1}"/>
              </c:ext>
            </c:extLst>
          </c:dPt>
          <c:dPt>
            <c:idx val="18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31-7643-4929-B49B-6D70A1D6C3F1}"/>
              </c:ext>
            </c:extLst>
          </c:dPt>
          <c:dPt>
            <c:idx val="1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32-7643-4929-B49B-6D70A1D6C3F1}"/>
              </c:ext>
            </c:extLst>
          </c:dPt>
          <c:dPt>
            <c:idx val="20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33-7643-4929-B49B-6D70A1D6C3F1}"/>
              </c:ext>
            </c:extLst>
          </c:dPt>
          <c:dPt>
            <c:idx val="21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34-7643-4929-B49B-6D70A1D6C3F1}"/>
              </c:ext>
            </c:extLst>
          </c:dPt>
          <c:dPt>
            <c:idx val="22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35-7643-4929-B49B-6D70A1D6C3F1}"/>
              </c:ext>
            </c:extLst>
          </c:dPt>
          <c:dPt>
            <c:idx val="23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36-7643-4929-B49B-6D70A1D6C3F1}"/>
              </c:ext>
            </c:extLst>
          </c:dPt>
          <c:cat>
            <c:strRef>
              <c:f>Лист1!$A$2:$A$25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Лист1!$B$2:$B$25</c:f>
              <c:numCache>
                <c:formatCode>General</c:formatCode>
                <c:ptCount val="24"/>
                <c:pt idx="0">
                  <c:v>75.395693813505417</c:v>
                </c:pt>
                <c:pt idx="1">
                  <c:v>63.803369537015094</c:v>
                </c:pt>
                <c:pt idx="2">
                  <c:v>64.302538320128065</c:v>
                </c:pt>
                <c:pt idx="3">
                  <c:v>73.825465878638042</c:v>
                </c:pt>
                <c:pt idx="4">
                  <c:v>77.495481276207343</c:v>
                </c:pt>
                <c:pt idx="5">
                  <c:v>70.93505214408809</c:v>
                </c:pt>
                <c:pt idx="6">
                  <c:v>64.32266108400654</c:v>
                </c:pt>
                <c:pt idx="7">
                  <c:v>72.744772363895251</c:v>
                </c:pt>
                <c:pt idx="8">
                  <c:v>75.836212983211652</c:v>
                </c:pt>
                <c:pt idx="9">
                  <c:v>72.093852642124062</c:v>
                </c:pt>
                <c:pt idx="10">
                  <c:v>74.246592381361708</c:v>
                </c:pt>
                <c:pt idx="11">
                  <c:v>166.0814692533867</c:v>
                </c:pt>
                <c:pt idx="12">
                  <c:v>169.63459274265915</c:v>
                </c:pt>
                <c:pt idx="13">
                  <c:v>161.19862416597579</c:v>
                </c:pt>
                <c:pt idx="14">
                  <c:v>156.1355107259827</c:v>
                </c:pt>
                <c:pt idx="15">
                  <c:v>159.06993045640939</c:v>
                </c:pt>
                <c:pt idx="16">
                  <c:v>68.654513563466281</c:v>
                </c:pt>
                <c:pt idx="17">
                  <c:v>69.996400116551143</c:v>
                </c:pt>
                <c:pt idx="18">
                  <c:v>78.990293901342042</c:v>
                </c:pt>
                <c:pt idx="19">
                  <c:v>82.032843651885003</c:v>
                </c:pt>
                <c:pt idx="20">
                  <c:v>84.799599664677913</c:v>
                </c:pt>
                <c:pt idx="21">
                  <c:v>74.605752171303791</c:v>
                </c:pt>
                <c:pt idx="22">
                  <c:v>65.935049111604556</c:v>
                </c:pt>
                <c:pt idx="23">
                  <c:v>78.353372954434775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50F-472B-931C-DE572741A5C7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пр-т Вернадского, 88к3</c:v>
                </c:pt>
              </c:strCache>
            </c:strRef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square"/>
            <c:size val="6"/>
            <c:spPr>
              <a:solidFill>
                <a:schemeClr val="accent4"/>
              </a:solidFill>
              <a:ln w="9525">
                <a:solidFill>
                  <a:schemeClr val="accent4"/>
                </a:solidFill>
                <a:round/>
              </a:ln>
              <a:effectLst/>
            </c:spPr>
          </c:marker>
          <c:dPt>
            <c:idx val="0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42-7643-4929-B49B-6D70A1D6C3F1}"/>
              </c:ext>
            </c:extLst>
          </c:dPt>
          <c:dPt>
            <c:idx val="1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43-7643-4929-B49B-6D70A1D6C3F1}"/>
              </c:ext>
            </c:extLst>
          </c:dPt>
          <c:dPt>
            <c:idx val="2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44-7643-4929-B49B-6D70A1D6C3F1}"/>
              </c:ext>
            </c:extLst>
          </c:dPt>
          <c:dPt>
            <c:idx val="3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45-7643-4929-B49B-6D70A1D6C3F1}"/>
              </c:ext>
            </c:extLst>
          </c:dPt>
          <c:dPt>
            <c:idx val="4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46-7643-4929-B49B-6D70A1D6C3F1}"/>
              </c:ext>
            </c:extLst>
          </c:dPt>
          <c:dPt>
            <c:idx val="5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47-7643-4929-B49B-6D70A1D6C3F1}"/>
              </c:ext>
            </c:extLst>
          </c:dPt>
          <c:dPt>
            <c:idx val="6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48-7643-4929-B49B-6D70A1D6C3F1}"/>
              </c:ext>
            </c:extLst>
          </c:dPt>
          <c:dPt>
            <c:idx val="7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49-7643-4929-B49B-6D70A1D6C3F1}"/>
              </c:ext>
            </c:extLst>
          </c:dPt>
          <c:dPt>
            <c:idx val="8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4A-7643-4929-B49B-6D70A1D6C3F1}"/>
              </c:ext>
            </c:extLst>
          </c:dPt>
          <c:dPt>
            <c:idx val="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4B-7643-4929-B49B-6D70A1D6C3F1}"/>
              </c:ext>
            </c:extLst>
          </c:dPt>
          <c:dPt>
            <c:idx val="17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4C-7643-4929-B49B-6D70A1D6C3F1}"/>
              </c:ext>
            </c:extLst>
          </c:dPt>
          <c:dPt>
            <c:idx val="18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4D-7643-4929-B49B-6D70A1D6C3F1}"/>
              </c:ext>
            </c:extLst>
          </c:dPt>
          <c:dPt>
            <c:idx val="1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4E-7643-4929-B49B-6D70A1D6C3F1}"/>
              </c:ext>
            </c:extLst>
          </c:dPt>
          <c:dPt>
            <c:idx val="20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4F-7643-4929-B49B-6D70A1D6C3F1}"/>
              </c:ext>
            </c:extLst>
          </c:dPt>
          <c:dPt>
            <c:idx val="21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50-7643-4929-B49B-6D70A1D6C3F1}"/>
              </c:ext>
            </c:extLst>
          </c:dPt>
          <c:dPt>
            <c:idx val="22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51-7643-4929-B49B-6D70A1D6C3F1}"/>
              </c:ext>
            </c:extLst>
          </c:dPt>
          <c:dPt>
            <c:idx val="23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52-7643-4929-B49B-6D70A1D6C3F1}"/>
              </c:ext>
            </c:extLst>
          </c:dPt>
          <c:cat>
            <c:strRef>
              <c:f>Лист1!$A$2:$A$25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Лист1!$C$2:$C$25</c:f>
              <c:numCache>
                <c:formatCode>General</c:formatCode>
                <c:ptCount val="24"/>
                <c:pt idx="0">
                  <c:v>107.49582496272134</c:v>
                </c:pt>
                <c:pt idx="1">
                  <c:v>124.21704964204268</c:v>
                </c:pt>
                <c:pt idx="2">
                  <c:v>115.94877371956643</c:v>
                </c:pt>
                <c:pt idx="3">
                  <c:v>117.15483950078487</c:v>
                </c:pt>
                <c:pt idx="4">
                  <c:v>107.61570963252969</c:v>
                </c:pt>
                <c:pt idx="5">
                  <c:v>107.16517550356097</c:v>
                </c:pt>
                <c:pt idx="6">
                  <c:v>113.95561235612664</c:v>
                </c:pt>
                <c:pt idx="7">
                  <c:v>112.12564257333393</c:v>
                </c:pt>
                <c:pt idx="8">
                  <c:v>120.5230783858061</c:v>
                </c:pt>
                <c:pt idx="9">
                  <c:v>109.85963646697797</c:v>
                </c:pt>
                <c:pt idx="10">
                  <c:v>97.629621258128509</c:v>
                </c:pt>
                <c:pt idx="11">
                  <c:v>151.87495674239472</c:v>
                </c:pt>
                <c:pt idx="12">
                  <c:v>155.7312388562739</c:v>
                </c:pt>
                <c:pt idx="13">
                  <c:v>164.51194040791327</c:v>
                </c:pt>
                <c:pt idx="14">
                  <c:v>152.39455179096416</c:v>
                </c:pt>
                <c:pt idx="15">
                  <c:v>162.37560112494975</c:v>
                </c:pt>
                <c:pt idx="16">
                  <c:v>108.80381082103628</c:v>
                </c:pt>
                <c:pt idx="17">
                  <c:v>99.361860015514225</c:v>
                </c:pt>
                <c:pt idx="18">
                  <c:v>98.405670970320131</c:v>
                </c:pt>
                <c:pt idx="19">
                  <c:v>122.04666592726043</c:v>
                </c:pt>
                <c:pt idx="20">
                  <c:v>105.12338564035713</c:v>
                </c:pt>
                <c:pt idx="21">
                  <c:v>104.6946665501668</c:v>
                </c:pt>
                <c:pt idx="22">
                  <c:v>96.848222420085222</c:v>
                </c:pt>
                <c:pt idx="23">
                  <c:v>112.39395128696093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643-4929-B49B-6D70A1D6C3F1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Ракетный б-р, 14к1</c:v>
                </c:pt>
              </c:strCache>
            </c:strRef>
          </c:tx>
          <c:spPr>
            <a:ln w="19050" cap="rnd">
              <a:solidFill>
                <a:schemeClr val="accent6"/>
              </a:solidFill>
              <a:round/>
            </a:ln>
            <a:effectLst/>
          </c:spPr>
          <c:marker>
            <c:symbol val="triangle"/>
            <c:size val="6"/>
            <c:spPr>
              <a:solidFill>
                <a:schemeClr val="accent6"/>
              </a:solidFill>
              <a:ln w="9525">
                <a:solidFill>
                  <a:schemeClr val="accent6"/>
                </a:solidFill>
                <a:round/>
              </a:ln>
              <a:effectLst/>
            </c:spPr>
          </c:marker>
          <c:dPt>
            <c:idx val="0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53-7643-4929-B49B-6D70A1D6C3F1}"/>
              </c:ext>
            </c:extLst>
          </c:dPt>
          <c:dPt>
            <c:idx val="1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54-7643-4929-B49B-6D70A1D6C3F1}"/>
              </c:ext>
            </c:extLst>
          </c:dPt>
          <c:dPt>
            <c:idx val="2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55-7643-4929-B49B-6D70A1D6C3F1}"/>
              </c:ext>
            </c:extLst>
          </c:dPt>
          <c:dPt>
            <c:idx val="3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56-7643-4929-B49B-6D70A1D6C3F1}"/>
              </c:ext>
            </c:extLst>
          </c:dPt>
          <c:dPt>
            <c:idx val="4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57-7643-4929-B49B-6D70A1D6C3F1}"/>
              </c:ext>
            </c:extLst>
          </c:dPt>
          <c:dPt>
            <c:idx val="5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58-7643-4929-B49B-6D70A1D6C3F1}"/>
              </c:ext>
            </c:extLst>
          </c:dPt>
          <c:dPt>
            <c:idx val="6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59-7643-4929-B49B-6D70A1D6C3F1}"/>
              </c:ext>
            </c:extLst>
          </c:dPt>
          <c:dPt>
            <c:idx val="7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5A-7643-4929-B49B-6D70A1D6C3F1}"/>
              </c:ext>
            </c:extLst>
          </c:dPt>
          <c:dPt>
            <c:idx val="8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5B-7643-4929-B49B-6D70A1D6C3F1}"/>
              </c:ext>
            </c:extLst>
          </c:dPt>
          <c:dPt>
            <c:idx val="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5C-7643-4929-B49B-6D70A1D6C3F1}"/>
              </c:ext>
            </c:extLst>
          </c:dPt>
          <c:dPt>
            <c:idx val="10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5D-7643-4929-B49B-6D70A1D6C3F1}"/>
              </c:ext>
            </c:extLst>
          </c:dPt>
          <c:dPt>
            <c:idx val="11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5E-7643-4929-B49B-6D70A1D6C3F1}"/>
              </c:ext>
            </c:extLst>
          </c:dPt>
          <c:dPt>
            <c:idx val="12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5F-7643-4929-B49B-6D70A1D6C3F1}"/>
              </c:ext>
            </c:extLst>
          </c:dPt>
          <c:dPt>
            <c:idx val="13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60-7643-4929-B49B-6D70A1D6C3F1}"/>
              </c:ext>
            </c:extLst>
          </c:dPt>
          <c:dPt>
            <c:idx val="14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61-7643-4929-B49B-6D70A1D6C3F1}"/>
              </c:ext>
            </c:extLst>
          </c:dPt>
          <c:dPt>
            <c:idx val="15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62-7643-4929-B49B-6D70A1D6C3F1}"/>
              </c:ext>
            </c:extLst>
          </c:dPt>
          <c:cat>
            <c:strRef>
              <c:f>Лист1!$A$2:$A$25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Лист1!$D$2:$D$25</c:f>
              <c:numCache>
                <c:formatCode>General</c:formatCode>
                <c:ptCount val="24"/>
                <c:pt idx="0">
                  <c:v>96.191763466851285</c:v>
                </c:pt>
                <c:pt idx="1">
                  <c:v>98.923699772048337</c:v>
                </c:pt>
                <c:pt idx="2">
                  <c:v>88.127189909573644</c:v>
                </c:pt>
                <c:pt idx="3">
                  <c:v>83.718173347926722</c:v>
                </c:pt>
                <c:pt idx="4">
                  <c:v>96.796966756365322</c:v>
                </c:pt>
                <c:pt idx="5">
                  <c:v>92.736195063437606</c:v>
                </c:pt>
                <c:pt idx="6">
                  <c:v>103.7297684853053</c:v>
                </c:pt>
                <c:pt idx="7">
                  <c:v>71.293763483620509</c:v>
                </c:pt>
                <c:pt idx="8">
                  <c:v>89.874351004670771</c:v>
                </c:pt>
                <c:pt idx="9">
                  <c:v>76.593845298415729</c:v>
                </c:pt>
                <c:pt idx="10">
                  <c:v>75.575645894787158</c:v>
                </c:pt>
                <c:pt idx="11">
                  <c:v>92.981212574522942</c:v>
                </c:pt>
                <c:pt idx="12">
                  <c:v>80.630079174879938</c:v>
                </c:pt>
                <c:pt idx="13">
                  <c:v>79.552150428678615</c:v>
                </c:pt>
                <c:pt idx="14">
                  <c:v>103.82501608226448</c:v>
                </c:pt>
                <c:pt idx="15">
                  <c:v>95.764655700223827</c:v>
                </c:pt>
                <c:pt idx="16">
                  <c:v>85.787115662956154</c:v>
                </c:pt>
                <c:pt idx="17">
                  <c:v>100.35393512942112</c:v>
                </c:pt>
                <c:pt idx="18">
                  <c:v>108.9830854333584</c:v>
                </c:pt>
                <c:pt idx="19">
                  <c:v>131.7967217038225</c:v>
                </c:pt>
                <c:pt idx="20">
                  <c:v>110.87569734809222</c:v>
                </c:pt>
                <c:pt idx="21">
                  <c:v>141.06709118817977</c:v>
                </c:pt>
                <c:pt idx="22">
                  <c:v>131.30673950198232</c:v>
                </c:pt>
                <c:pt idx="23">
                  <c:v>138.6807914526234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643-4929-B49B-6D70A1D6C3F1}"/>
            </c:ext>
          </c:extLst>
        </c:ser>
        <c:ser>
          <c:idx val="3"/>
          <c:order val="3"/>
          <c:tx>
            <c:strRef>
              <c:f>Лист1!$E$1</c:f>
              <c:strCache>
                <c:ptCount val="1"/>
                <c:pt idx="0">
                  <c:v>Симферопольский б-р, 22</c:v>
                </c:pt>
              </c:strCache>
            </c:strRef>
          </c:tx>
          <c:spPr>
            <a:ln w="19050" cap="rnd">
              <a:solidFill>
                <a:schemeClr val="accent2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Лист1!$A$2:$A$25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Лист1!$E$2:$E$25</c:f>
              <c:numCache>
                <c:formatCode>General</c:formatCode>
                <c:ptCount val="24"/>
                <c:pt idx="0">
                  <c:v>220.62057200819254</c:v>
                </c:pt>
                <c:pt idx="1">
                  <c:v>204.96410390761281</c:v>
                </c:pt>
                <c:pt idx="2">
                  <c:v>221.36091590106773</c:v>
                </c:pt>
                <c:pt idx="3">
                  <c:v>197.45958196165572</c:v>
                </c:pt>
                <c:pt idx="4">
                  <c:v>224.71267680735573</c:v>
                </c:pt>
                <c:pt idx="5">
                  <c:v>195.20977961186034</c:v>
                </c:pt>
                <c:pt idx="6">
                  <c:v>219.13856745609459</c:v>
                </c:pt>
                <c:pt idx="7">
                  <c:v>215.82051226403564</c:v>
                </c:pt>
                <c:pt idx="8">
                  <c:v>227.35399767689938</c:v>
                </c:pt>
                <c:pt idx="9">
                  <c:v>212.47934923241181</c:v>
                </c:pt>
                <c:pt idx="10">
                  <c:v>216.63862868603744</c:v>
                </c:pt>
                <c:pt idx="11">
                  <c:v>228.1377139716642</c:v>
                </c:pt>
                <c:pt idx="12">
                  <c:v>212.38955941728571</c:v>
                </c:pt>
                <c:pt idx="13">
                  <c:v>243.28885256778449</c:v>
                </c:pt>
                <c:pt idx="14">
                  <c:v>223.62056859260932</c:v>
                </c:pt>
                <c:pt idx="15">
                  <c:v>226.06843373909288</c:v>
                </c:pt>
                <c:pt idx="16">
                  <c:v>227.82689876330551</c:v>
                </c:pt>
                <c:pt idx="17">
                  <c:v>224.22886722820945</c:v>
                </c:pt>
                <c:pt idx="18">
                  <c:v>206.21106439809265</c:v>
                </c:pt>
                <c:pt idx="19">
                  <c:v>185.70843723602593</c:v>
                </c:pt>
                <c:pt idx="20">
                  <c:v>213.54483874336651</c:v>
                </c:pt>
                <c:pt idx="21">
                  <c:v>240.09581529335784</c:v>
                </c:pt>
                <c:pt idx="22">
                  <c:v>223.10670610517263</c:v>
                </c:pt>
                <c:pt idx="23">
                  <c:v>236.15579103352502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643-4929-B49B-6D70A1D6C3F1}"/>
            </c:ext>
          </c:extLst>
        </c:ser>
        <c:ser>
          <c:idx val="4"/>
          <c:order val="4"/>
          <c:tx>
            <c:strRef>
              <c:f>Лист1!$F$1</c:f>
              <c:strCache>
                <c:ptCount val="1"/>
                <c:pt idx="0">
                  <c:v>ул. Щорса, 26/3</c:v>
                </c:pt>
              </c:strCache>
            </c:strRef>
          </c:tx>
          <c:spPr>
            <a:ln w="19050" cap="rnd">
              <a:solidFill>
                <a:schemeClr val="accent4">
                  <a:lumMod val="60000"/>
                </a:schemeClr>
              </a:solidFill>
              <a:round/>
            </a:ln>
            <a:effectLst/>
          </c:spPr>
          <c:marker>
            <c:symbol val="star"/>
            <c:size val="6"/>
            <c:spPr>
              <a:noFill/>
              <a:ln w="9525">
                <a:solidFill>
                  <a:schemeClr val="accent4">
                    <a:lumMod val="60000"/>
                  </a:schemeClr>
                </a:solidFill>
                <a:round/>
              </a:ln>
              <a:effectLst/>
            </c:spPr>
          </c:marker>
          <c:dPt>
            <c:idx val="0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63-7643-4929-B49B-6D70A1D6C3F1}"/>
              </c:ext>
            </c:extLst>
          </c:dPt>
          <c:dPt>
            <c:idx val="1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1C-7643-4929-B49B-6D70A1D6C3F1}"/>
              </c:ext>
            </c:extLst>
          </c:dPt>
          <c:dPt>
            <c:idx val="8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1A-7643-4929-B49B-6D70A1D6C3F1}"/>
              </c:ext>
            </c:extLst>
          </c:dPt>
          <c:dPt>
            <c:idx val="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19-7643-4929-B49B-6D70A1D6C3F1}"/>
              </c:ext>
            </c:extLst>
          </c:dPt>
          <c:dPt>
            <c:idx val="10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18-7643-4929-B49B-6D70A1D6C3F1}"/>
              </c:ext>
            </c:extLst>
          </c:dPt>
          <c:dPt>
            <c:idx val="11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17-7643-4929-B49B-6D70A1D6C3F1}"/>
              </c:ext>
            </c:extLst>
          </c:dPt>
          <c:dPt>
            <c:idx val="12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16-7643-4929-B49B-6D70A1D6C3F1}"/>
              </c:ext>
            </c:extLst>
          </c:dPt>
          <c:dPt>
            <c:idx val="13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14-7643-4929-B49B-6D70A1D6C3F1}"/>
              </c:ext>
            </c:extLst>
          </c:dPt>
          <c:dPt>
            <c:idx val="14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15-7643-4929-B49B-6D70A1D6C3F1}"/>
              </c:ext>
            </c:extLst>
          </c:dPt>
          <c:dPt>
            <c:idx val="15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13-7643-4929-B49B-6D70A1D6C3F1}"/>
              </c:ext>
            </c:extLst>
          </c:dPt>
          <c:dPt>
            <c:idx val="16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12-7643-4929-B49B-6D70A1D6C3F1}"/>
              </c:ext>
            </c:extLst>
          </c:dPt>
          <c:dPt>
            <c:idx val="17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11-7643-4929-B49B-6D70A1D6C3F1}"/>
              </c:ext>
            </c:extLst>
          </c:dPt>
          <c:dPt>
            <c:idx val="18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10-7643-4929-B49B-6D70A1D6C3F1}"/>
              </c:ext>
            </c:extLst>
          </c:dPt>
          <c:dPt>
            <c:idx val="19"/>
            <c:marker>
              <c:symbol val="none"/>
            </c:marker>
            <c:bubble3D val="0"/>
            <c:spPr>
              <a:ln w="19050" cap="rnd">
                <a:solidFill>
                  <a:schemeClr val="accent4">
                    <a:lumMod val="60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A-7643-4929-B49B-6D70A1D6C3F1}"/>
              </c:ext>
            </c:extLst>
          </c:dPt>
          <c:dPt>
            <c:idx val="20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C-7643-4929-B49B-6D70A1D6C3F1}"/>
              </c:ext>
            </c:extLst>
          </c:dPt>
          <c:dPt>
            <c:idx val="21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D-7643-4929-B49B-6D70A1D6C3F1}"/>
              </c:ext>
            </c:extLst>
          </c:dPt>
          <c:dPt>
            <c:idx val="22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E-7643-4929-B49B-6D70A1D6C3F1}"/>
              </c:ext>
            </c:extLst>
          </c:dPt>
          <c:dPt>
            <c:idx val="23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F-7643-4929-B49B-6D70A1D6C3F1}"/>
              </c:ext>
            </c:extLst>
          </c:dPt>
          <c:cat>
            <c:strRef>
              <c:f>Лист1!$A$2:$A$25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Лист1!$F$2:$F$25</c:f>
              <c:numCache>
                <c:formatCode>General</c:formatCode>
                <c:ptCount val="24"/>
                <c:pt idx="0">
                  <c:v>144.2157665317479</c:v>
                </c:pt>
                <c:pt idx="1">
                  <c:v>126.90396837831941</c:v>
                </c:pt>
                <c:pt idx="2">
                  <c:v>128.80592484725639</c:v>
                </c:pt>
                <c:pt idx="3">
                  <c:v>257.67098882206483</c:v>
                </c:pt>
                <c:pt idx="4">
                  <c:v>183.63044598781681</c:v>
                </c:pt>
                <c:pt idx="5">
                  <c:v>287.76392666331958</c:v>
                </c:pt>
                <c:pt idx="6">
                  <c:v>218.7712519130898</c:v>
                </c:pt>
                <c:pt idx="7">
                  <c:v>138.80676475058937</c:v>
                </c:pt>
                <c:pt idx="8">
                  <c:v>147.88707348983735</c:v>
                </c:pt>
                <c:pt idx="9">
                  <c:v>148.67805009707808</c:v>
                </c:pt>
                <c:pt idx="10">
                  <c:v>143.25941399005907</c:v>
                </c:pt>
                <c:pt idx="11">
                  <c:v>131.28065239516613</c:v>
                </c:pt>
                <c:pt idx="12">
                  <c:v>138.66500442428514</c:v>
                </c:pt>
                <c:pt idx="13">
                  <c:v>136.430150891674</c:v>
                </c:pt>
                <c:pt idx="14">
                  <c:v>136.04584586994841</c:v>
                </c:pt>
                <c:pt idx="15">
                  <c:v>134.5910629822298</c:v>
                </c:pt>
                <c:pt idx="16">
                  <c:v>155.28822427382693</c:v>
                </c:pt>
                <c:pt idx="17">
                  <c:v>136.43725179426838</c:v>
                </c:pt>
                <c:pt idx="18">
                  <c:v>157.17893237914805</c:v>
                </c:pt>
                <c:pt idx="19">
                  <c:v>127.99031683654688</c:v>
                </c:pt>
                <c:pt idx="20">
                  <c:v>168.69327854972494</c:v>
                </c:pt>
                <c:pt idx="21">
                  <c:v>146.66882445177944</c:v>
                </c:pt>
                <c:pt idx="22">
                  <c:v>165.48762260254745</c:v>
                </c:pt>
                <c:pt idx="23">
                  <c:v>155.28277886280028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7643-4929-B49B-6D70A1D6C3F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7987024"/>
        <c:axId val="147984144"/>
      </c:lineChart>
      <c:catAx>
        <c:axId val="14798702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dirty="0"/>
                  <a:t>час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64" b="0" i="0" u="none" strike="noStrike" kern="1200" cap="all" spc="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47984144"/>
        <c:crosses val="autoZero"/>
        <c:auto val="1"/>
        <c:lblAlgn val="ctr"/>
        <c:lblOffset val="100"/>
        <c:noMultiLvlLbl val="0"/>
      </c:catAx>
      <c:valAx>
        <c:axId val="147984144"/>
        <c:scaling>
          <c:orientation val="minMax"/>
          <c:max val="30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200" b="0" i="0" u="none" strike="noStrike" kern="1200" baseline="0" dirty="0">
                    <a:solidFill>
                      <a:srgbClr val="000000">
                        <a:lumMod val="65000"/>
                        <a:lumOff val="35000"/>
                      </a:srgbClr>
                    </a:solidFill>
                  </a:rPr>
                  <a:t>Ср. длит., сек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479870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cap="none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pPr>
            <a:r>
              <a:rPr lang="ru-RU" sz="1800" b="0" i="0" u="none" strike="noStrike" kern="1200" spc="0" baseline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Динамика количества транзакций по адресам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cap="none" spc="120" normalizeH="0" baseline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Ленинский пр-т, 162/1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diamond"/>
            <c:size val="6"/>
            <c:spPr>
              <a:solidFill>
                <a:schemeClr val="accent2"/>
              </a:solidFill>
              <a:ln w="9525">
                <a:solidFill>
                  <a:schemeClr val="accent2"/>
                </a:solidFill>
                <a:round/>
              </a:ln>
              <a:effectLst/>
            </c:spPr>
          </c:marker>
          <c:dPt>
            <c:idx val="0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9-B78C-4677-BBD7-48A1C5AB3C4F}"/>
              </c:ext>
            </c:extLst>
          </c:dPt>
          <c:dPt>
            <c:idx val="1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8-B78C-4677-BBD7-48A1C5AB3C4F}"/>
              </c:ext>
            </c:extLst>
          </c:dPt>
          <c:dPt>
            <c:idx val="2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7-B78C-4677-BBD7-48A1C5AB3C4F}"/>
              </c:ext>
            </c:extLst>
          </c:dPt>
          <c:dPt>
            <c:idx val="3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6-B78C-4677-BBD7-48A1C5AB3C4F}"/>
              </c:ext>
            </c:extLst>
          </c:dPt>
          <c:dPt>
            <c:idx val="4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5-B78C-4677-BBD7-48A1C5AB3C4F}"/>
              </c:ext>
            </c:extLst>
          </c:dPt>
          <c:dPt>
            <c:idx val="5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4-B78C-4677-BBD7-48A1C5AB3C4F}"/>
              </c:ext>
            </c:extLst>
          </c:dPt>
          <c:dPt>
            <c:idx val="6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3-B78C-4677-BBD7-48A1C5AB3C4F}"/>
              </c:ext>
            </c:extLst>
          </c:dPt>
          <c:dPt>
            <c:idx val="7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78C-4677-BBD7-48A1C5AB3C4F}"/>
              </c:ext>
            </c:extLst>
          </c:dPt>
          <c:dPt>
            <c:idx val="8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1-B78C-4677-BBD7-48A1C5AB3C4F}"/>
              </c:ext>
            </c:extLst>
          </c:dPt>
          <c:dPt>
            <c:idx val="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0-B78C-4677-BBD7-48A1C5AB3C4F}"/>
              </c:ext>
            </c:extLst>
          </c:dPt>
          <c:dPt>
            <c:idx val="17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1C-B78C-4677-BBD7-48A1C5AB3C4F}"/>
              </c:ext>
            </c:extLst>
          </c:dPt>
          <c:dPt>
            <c:idx val="18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1D-B78C-4677-BBD7-48A1C5AB3C4F}"/>
              </c:ext>
            </c:extLst>
          </c:dPt>
          <c:dPt>
            <c:idx val="1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1E-B78C-4677-BBD7-48A1C5AB3C4F}"/>
              </c:ext>
            </c:extLst>
          </c:dPt>
          <c:dPt>
            <c:idx val="20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1F-B78C-4677-BBD7-48A1C5AB3C4F}"/>
              </c:ext>
            </c:extLst>
          </c:dPt>
          <c:dPt>
            <c:idx val="21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20-B78C-4677-BBD7-48A1C5AB3C4F}"/>
              </c:ext>
            </c:extLst>
          </c:dPt>
          <c:dPt>
            <c:idx val="22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21-B78C-4677-BBD7-48A1C5AB3C4F}"/>
              </c:ext>
            </c:extLst>
          </c:dPt>
          <c:dPt>
            <c:idx val="23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22-B78C-4677-BBD7-48A1C5AB3C4F}"/>
              </c:ext>
            </c:extLst>
          </c:dPt>
          <c:cat>
            <c:strRef>
              <c:f>Лист1!$A$2:$A$25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Лист1!$B$2:$B$25</c:f>
              <c:numCache>
                <c:formatCode>General</c:formatCode>
                <c:ptCount val="24"/>
                <c:pt idx="0">
                  <c:v>119</c:v>
                </c:pt>
                <c:pt idx="1">
                  <c:v>97</c:v>
                </c:pt>
                <c:pt idx="2">
                  <c:v>95</c:v>
                </c:pt>
                <c:pt idx="3">
                  <c:v>84</c:v>
                </c:pt>
                <c:pt idx="4">
                  <c:v>110</c:v>
                </c:pt>
                <c:pt idx="5">
                  <c:v>92</c:v>
                </c:pt>
                <c:pt idx="6">
                  <c:v>120</c:v>
                </c:pt>
                <c:pt idx="7">
                  <c:v>114</c:v>
                </c:pt>
                <c:pt idx="8">
                  <c:v>117</c:v>
                </c:pt>
                <c:pt idx="9">
                  <c:v>106</c:v>
                </c:pt>
                <c:pt idx="10">
                  <c:v>115</c:v>
                </c:pt>
                <c:pt idx="11">
                  <c:v>134</c:v>
                </c:pt>
                <c:pt idx="12">
                  <c:v>120</c:v>
                </c:pt>
                <c:pt idx="13">
                  <c:v>147</c:v>
                </c:pt>
                <c:pt idx="14">
                  <c:v>170</c:v>
                </c:pt>
                <c:pt idx="15">
                  <c:v>165</c:v>
                </c:pt>
                <c:pt idx="16">
                  <c:v>113</c:v>
                </c:pt>
                <c:pt idx="17">
                  <c:v>107</c:v>
                </c:pt>
                <c:pt idx="18">
                  <c:v>117</c:v>
                </c:pt>
                <c:pt idx="19">
                  <c:v>110</c:v>
                </c:pt>
                <c:pt idx="20">
                  <c:v>95</c:v>
                </c:pt>
                <c:pt idx="21">
                  <c:v>117</c:v>
                </c:pt>
                <c:pt idx="22">
                  <c:v>109</c:v>
                </c:pt>
                <c:pt idx="23">
                  <c:v>102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684-47A6-B006-BC5DFE13848A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пр-т Вернадского, 88к3</c:v>
                </c:pt>
              </c:strCache>
            </c:strRef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square"/>
            <c:size val="6"/>
            <c:spPr>
              <a:solidFill>
                <a:schemeClr val="accent4"/>
              </a:solidFill>
              <a:ln w="9525">
                <a:solidFill>
                  <a:schemeClr val="accent4"/>
                </a:solidFill>
                <a:round/>
              </a:ln>
              <a:effectLst/>
            </c:spPr>
          </c:marker>
          <c:dPt>
            <c:idx val="0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14-B78C-4677-BBD7-48A1C5AB3C4F}"/>
              </c:ext>
            </c:extLst>
          </c:dPt>
          <c:dPt>
            <c:idx val="1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13-B78C-4677-BBD7-48A1C5AB3C4F}"/>
              </c:ext>
            </c:extLst>
          </c:dPt>
          <c:dPt>
            <c:idx val="2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12-B78C-4677-BBD7-48A1C5AB3C4F}"/>
              </c:ext>
            </c:extLst>
          </c:dPt>
          <c:dPt>
            <c:idx val="3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11-B78C-4677-BBD7-48A1C5AB3C4F}"/>
              </c:ext>
            </c:extLst>
          </c:dPt>
          <c:dPt>
            <c:idx val="4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10-B78C-4677-BBD7-48A1C5AB3C4F}"/>
              </c:ext>
            </c:extLst>
          </c:dPt>
          <c:dPt>
            <c:idx val="5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F-B78C-4677-BBD7-48A1C5AB3C4F}"/>
              </c:ext>
            </c:extLst>
          </c:dPt>
          <c:dPt>
            <c:idx val="6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E-B78C-4677-BBD7-48A1C5AB3C4F}"/>
              </c:ext>
            </c:extLst>
          </c:dPt>
          <c:dPt>
            <c:idx val="7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D-B78C-4677-BBD7-48A1C5AB3C4F}"/>
              </c:ext>
            </c:extLst>
          </c:dPt>
          <c:dPt>
            <c:idx val="8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C-B78C-4677-BBD7-48A1C5AB3C4F}"/>
              </c:ext>
            </c:extLst>
          </c:dPt>
          <c:dPt>
            <c:idx val="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B-B78C-4677-BBD7-48A1C5AB3C4F}"/>
              </c:ext>
            </c:extLst>
          </c:dPt>
          <c:dPt>
            <c:idx val="17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15-B78C-4677-BBD7-48A1C5AB3C4F}"/>
              </c:ext>
            </c:extLst>
          </c:dPt>
          <c:dPt>
            <c:idx val="18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16-B78C-4677-BBD7-48A1C5AB3C4F}"/>
              </c:ext>
            </c:extLst>
          </c:dPt>
          <c:dPt>
            <c:idx val="1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17-B78C-4677-BBD7-48A1C5AB3C4F}"/>
              </c:ext>
            </c:extLst>
          </c:dPt>
          <c:dPt>
            <c:idx val="20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18-B78C-4677-BBD7-48A1C5AB3C4F}"/>
              </c:ext>
            </c:extLst>
          </c:dPt>
          <c:dPt>
            <c:idx val="21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19-B78C-4677-BBD7-48A1C5AB3C4F}"/>
              </c:ext>
            </c:extLst>
          </c:dPt>
          <c:dPt>
            <c:idx val="22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1A-B78C-4677-BBD7-48A1C5AB3C4F}"/>
              </c:ext>
            </c:extLst>
          </c:dPt>
          <c:dPt>
            <c:idx val="23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1B-B78C-4677-BBD7-48A1C5AB3C4F}"/>
              </c:ext>
            </c:extLst>
          </c:dPt>
          <c:cat>
            <c:strRef>
              <c:f>Лист1!$A$2:$A$25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Лист1!$C$2:$C$25</c:f>
              <c:numCache>
                <c:formatCode>General</c:formatCode>
                <c:ptCount val="24"/>
                <c:pt idx="0">
                  <c:v>63</c:v>
                </c:pt>
                <c:pt idx="1">
                  <c:v>66</c:v>
                </c:pt>
                <c:pt idx="2">
                  <c:v>57</c:v>
                </c:pt>
                <c:pt idx="3">
                  <c:v>50</c:v>
                </c:pt>
                <c:pt idx="4">
                  <c:v>53</c:v>
                </c:pt>
                <c:pt idx="5">
                  <c:v>57</c:v>
                </c:pt>
                <c:pt idx="6">
                  <c:v>69</c:v>
                </c:pt>
                <c:pt idx="7">
                  <c:v>66</c:v>
                </c:pt>
                <c:pt idx="8">
                  <c:v>71</c:v>
                </c:pt>
                <c:pt idx="9">
                  <c:v>67</c:v>
                </c:pt>
                <c:pt idx="10">
                  <c:v>53</c:v>
                </c:pt>
                <c:pt idx="11">
                  <c:v>90</c:v>
                </c:pt>
                <c:pt idx="12">
                  <c:v>92</c:v>
                </c:pt>
                <c:pt idx="13">
                  <c:v>86</c:v>
                </c:pt>
                <c:pt idx="14">
                  <c:v>78</c:v>
                </c:pt>
                <c:pt idx="15">
                  <c:v>90</c:v>
                </c:pt>
                <c:pt idx="16">
                  <c:v>69</c:v>
                </c:pt>
                <c:pt idx="17">
                  <c:v>66</c:v>
                </c:pt>
                <c:pt idx="18">
                  <c:v>65</c:v>
                </c:pt>
                <c:pt idx="19">
                  <c:v>76</c:v>
                </c:pt>
                <c:pt idx="20">
                  <c:v>77</c:v>
                </c:pt>
                <c:pt idx="21">
                  <c:v>71</c:v>
                </c:pt>
                <c:pt idx="22">
                  <c:v>90</c:v>
                </c:pt>
                <c:pt idx="23">
                  <c:v>70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558-445D-ACDE-79F76473E077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Ракетный б-р, 14к1</c:v>
                </c:pt>
              </c:strCache>
            </c:strRef>
          </c:tx>
          <c:spPr>
            <a:ln w="19050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strRef>
              <c:f>Лист1!$A$2:$A$25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Лист1!$D$2:$D$25</c:f>
              <c:numCache>
                <c:formatCode>General</c:formatCode>
                <c:ptCount val="24"/>
                <c:pt idx="0">
                  <c:v>49</c:v>
                </c:pt>
                <c:pt idx="1">
                  <c:v>74</c:v>
                </c:pt>
                <c:pt idx="2">
                  <c:v>54</c:v>
                </c:pt>
                <c:pt idx="3">
                  <c:v>49</c:v>
                </c:pt>
                <c:pt idx="4">
                  <c:v>51</c:v>
                </c:pt>
                <c:pt idx="5">
                  <c:v>51</c:v>
                </c:pt>
                <c:pt idx="6">
                  <c:v>53</c:v>
                </c:pt>
                <c:pt idx="7">
                  <c:v>55</c:v>
                </c:pt>
                <c:pt idx="8">
                  <c:v>63</c:v>
                </c:pt>
                <c:pt idx="9">
                  <c:v>57</c:v>
                </c:pt>
                <c:pt idx="10">
                  <c:v>64</c:v>
                </c:pt>
                <c:pt idx="11">
                  <c:v>72</c:v>
                </c:pt>
                <c:pt idx="12">
                  <c:v>60</c:v>
                </c:pt>
                <c:pt idx="13">
                  <c:v>51</c:v>
                </c:pt>
                <c:pt idx="14">
                  <c:v>65</c:v>
                </c:pt>
                <c:pt idx="15">
                  <c:v>62</c:v>
                </c:pt>
                <c:pt idx="16">
                  <c:v>53</c:v>
                </c:pt>
                <c:pt idx="17">
                  <c:v>52</c:v>
                </c:pt>
                <c:pt idx="18">
                  <c:v>58</c:v>
                </c:pt>
                <c:pt idx="19">
                  <c:v>58</c:v>
                </c:pt>
                <c:pt idx="20">
                  <c:v>64</c:v>
                </c:pt>
                <c:pt idx="21">
                  <c:v>61</c:v>
                </c:pt>
                <c:pt idx="22">
                  <c:v>74</c:v>
                </c:pt>
                <c:pt idx="23">
                  <c:v>58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558-445D-ACDE-79F76473E077}"/>
            </c:ext>
          </c:extLst>
        </c:ser>
        <c:ser>
          <c:idx val="3"/>
          <c:order val="3"/>
          <c:tx>
            <c:strRef>
              <c:f>Лист1!$E$1</c:f>
              <c:strCache>
                <c:ptCount val="1"/>
                <c:pt idx="0">
                  <c:v>Симферопольский б-р, 22</c:v>
                </c:pt>
              </c:strCache>
            </c:strRef>
          </c:tx>
          <c:spPr>
            <a:ln w="19050" cap="rnd">
              <a:solidFill>
                <a:schemeClr val="accent2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Лист1!$A$2:$A$25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Лист1!$E$2:$E$25</c:f>
              <c:numCache>
                <c:formatCode>General</c:formatCode>
                <c:ptCount val="24"/>
                <c:pt idx="0">
                  <c:v>27</c:v>
                </c:pt>
                <c:pt idx="1">
                  <c:v>35</c:v>
                </c:pt>
                <c:pt idx="2">
                  <c:v>26</c:v>
                </c:pt>
                <c:pt idx="3">
                  <c:v>28</c:v>
                </c:pt>
                <c:pt idx="4">
                  <c:v>38</c:v>
                </c:pt>
                <c:pt idx="5">
                  <c:v>26</c:v>
                </c:pt>
                <c:pt idx="6">
                  <c:v>37</c:v>
                </c:pt>
                <c:pt idx="7">
                  <c:v>30</c:v>
                </c:pt>
                <c:pt idx="8">
                  <c:v>35</c:v>
                </c:pt>
                <c:pt idx="9">
                  <c:v>35</c:v>
                </c:pt>
                <c:pt idx="10">
                  <c:v>44</c:v>
                </c:pt>
                <c:pt idx="11">
                  <c:v>40</c:v>
                </c:pt>
                <c:pt idx="12">
                  <c:v>33</c:v>
                </c:pt>
                <c:pt idx="13">
                  <c:v>45</c:v>
                </c:pt>
                <c:pt idx="14">
                  <c:v>33</c:v>
                </c:pt>
                <c:pt idx="15">
                  <c:v>49</c:v>
                </c:pt>
                <c:pt idx="16">
                  <c:v>32</c:v>
                </c:pt>
                <c:pt idx="17">
                  <c:v>42</c:v>
                </c:pt>
                <c:pt idx="18">
                  <c:v>38</c:v>
                </c:pt>
                <c:pt idx="19">
                  <c:v>30</c:v>
                </c:pt>
                <c:pt idx="20">
                  <c:v>34</c:v>
                </c:pt>
                <c:pt idx="21">
                  <c:v>35</c:v>
                </c:pt>
                <c:pt idx="22">
                  <c:v>45</c:v>
                </c:pt>
                <c:pt idx="23">
                  <c:v>38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558-445D-ACDE-79F76473E077}"/>
            </c:ext>
          </c:extLst>
        </c:ser>
        <c:ser>
          <c:idx val="4"/>
          <c:order val="4"/>
          <c:tx>
            <c:strRef>
              <c:f>Лист1!$F$1</c:f>
              <c:strCache>
                <c:ptCount val="1"/>
                <c:pt idx="0">
                  <c:v>ул. Щорса, 26/3</c:v>
                </c:pt>
              </c:strCache>
            </c:strRef>
          </c:tx>
          <c:spPr>
            <a:ln w="19050" cap="rnd">
              <a:solidFill>
                <a:schemeClr val="accent4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Лист1!$A$2:$A$25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Лист1!$F$2:$F$25</c:f>
              <c:numCache>
                <c:formatCode>General</c:formatCode>
                <c:ptCount val="24"/>
                <c:pt idx="0">
                  <c:v>42</c:v>
                </c:pt>
                <c:pt idx="1">
                  <c:v>40</c:v>
                </c:pt>
                <c:pt idx="2">
                  <c:v>54</c:v>
                </c:pt>
                <c:pt idx="3">
                  <c:v>32</c:v>
                </c:pt>
                <c:pt idx="4">
                  <c:v>37</c:v>
                </c:pt>
                <c:pt idx="5">
                  <c:v>48</c:v>
                </c:pt>
                <c:pt idx="6">
                  <c:v>53</c:v>
                </c:pt>
                <c:pt idx="7">
                  <c:v>49</c:v>
                </c:pt>
                <c:pt idx="8">
                  <c:v>45</c:v>
                </c:pt>
                <c:pt idx="9">
                  <c:v>48</c:v>
                </c:pt>
                <c:pt idx="10">
                  <c:v>35</c:v>
                </c:pt>
                <c:pt idx="11">
                  <c:v>46</c:v>
                </c:pt>
                <c:pt idx="12">
                  <c:v>50</c:v>
                </c:pt>
                <c:pt idx="13">
                  <c:v>47</c:v>
                </c:pt>
                <c:pt idx="14">
                  <c:v>47</c:v>
                </c:pt>
                <c:pt idx="15">
                  <c:v>47</c:v>
                </c:pt>
                <c:pt idx="16">
                  <c:v>60</c:v>
                </c:pt>
                <c:pt idx="17">
                  <c:v>56</c:v>
                </c:pt>
                <c:pt idx="18">
                  <c:v>44</c:v>
                </c:pt>
                <c:pt idx="19">
                  <c:v>51</c:v>
                </c:pt>
                <c:pt idx="20">
                  <c:v>46</c:v>
                </c:pt>
                <c:pt idx="21">
                  <c:v>57</c:v>
                </c:pt>
                <c:pt idx="22">
                  <c:v>41</c:v>
                </c:pt>
                <c:pt idx="23">
                  <c:v>44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D558-445D-ACDE-79F76473E07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7987024"/>
        <c:axId val="147984144"/>
      </c:lineChart>
      <c:catAx>
        <c:axId val="14798702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dirty="0"/>
                  <a:t>час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64" b="0" i="0" u="none" strike="noStrike" kern="1200" cap="all" spc="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47984144"/>
        <c:crosses val="autoZero"/>
        <c:auto val="1"/>
        <c:lblAlgn val="ctr"/>
        <c:lblOffset val="100"/>
        <c:noMultiLvlLbl val="0"/>
      </c:catAx>
      <c:valAx>
        <c:axId val="1479841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200" b="0" i="0" u="none" strike="noStrike" kern="1200" baseline="0" dirty="0">
                    <a:solidFill>
                      <a:srgbClr val="000000">
                        <a:lumMod val="65000"/>
                        <a:lumOff val="35000"/>
                      </a:srgbClr>
                    </a:solidFill>
                  </a:rPr>
                  <a:t>Количество транзакций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479870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cap="none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pPr>
            <a:r>
              <a:rPr lang="ru-RU" sz="1800" b="0" i="0" u="none" strike="noStrike" kern="1200" spc="0" baseline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Средняя длительность платежа </a:t>
            </a:r>
            <a:br>
              <a:rPr lang="ru-RU" sz="1800" b="0" i="0" u="none" strike="noStrike" kern="1200" spc="0" baseline="0" dirty="0">
                <a:solidFill>
                  <a:srgbClr val="000000">
                    <a:lumMod val="65000"/>
                    <a:lumOff val="35000"/>
                  </a:srgbClr>
                </a:solidFill>
              </a:rPr>
            </a:br>
            <a:r>
              <a:rPr lang="ru-RU" sz="1800" b="0" i="0" u="none" strike="noStrike" kern="1200" spc="0" baseline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в динамике по серверам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cap="none" spc="120" normalizeH="0" baseline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1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diamond"/>
            <c:size val="6"/>
            <c:spPr>
              <a:solidFill>
                <a:schemeClr val="accent2"/>
              </a:solidFill>
              <a:ln w="9525">
                <a:solidFill>
                  <a:schemeClr val="accent2"/>
                </a:solidFill>
                <a:round/>
              </a:ln>
              <a:effectLst/>
            </c:spPr>
          </c:marker>
          <c:dPt>
            <c:idx val="0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41-7643-4929-B49B-6D70A1D6C3F1}"/>
              </c:ext>
            </c:extLst>
          </c:dPt>
          <c:dPt>
            <c:idx val="1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40-7643-4929-B49B-6D70A1D6C3F1}"/>
              </c:ext>
            </c:extLst>
          </c:dPt>
          <c:dPt>
            <c:idx val="2"/>
            <c:marker>
              <c:symbol val="diamond"/>
              <c:size val="6"/>
              <c:spPr>
                <a:solidFill>
                  <a:schemeClr val="accent2"/>
                </a:solidFill>
                <a:ln w="9525">
                  <a:solidFill>
                    <a:schemeClr val="accent2"/>
                  </a:solidFill>
                  <a:round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3F-7643-4929-B49B-6D70A1D6C3F1}"/>
              </c:ext>
            </c:extLst>
          </c:dPt>
          <c:dPt>
            <c:idx val="3"/>
            <c:marker>
              <c:symbol val="diamond"/>
              <c:size val="6"/>
              <c:spPr>
                <a:solidFill>
                  <a:schemeClr val="accent2"/>
                </a:solidFill>
                <a:ln w="9525">
                  <a:solidFill>
                    <a:schemeClr val="accent2"/>
                  </a:solidFill>
                  <a:round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3E-7643-4929-B49B-6D70A1D6C3F1}"/>
              </c:ext>
            </c:extLst>
          </c:dPt>
          <c:dPt>
            <c:idx val="4"/>
            <c:marker>
              <c:symbol val="diamond"/>
              <c:size val="6"/>
              <c:spPr>
                <a:solidFill>
                  <a:schemeClr val="accent2"/>
                </a:solidFill>
                <a:ln w="9525">
                  <a:solidFill>
                    <a:schemeClr val="accent2"/>
                  </a:solidFill>
                  <a:round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3D-7643-4929-B49B-6D70A1D6C3F1}"/>
              </c:ext>
            </c:extLst>
          </c:dPt>
          <c:dPt>
            <c:idx val="5"/>
            <c:marker>
              <c:symbol val="diamond"/>
              <c:size val="6"/>
              <c:spPr>
                <a:solidFill>
                  <a:schemeClr val="accent2"/>
                </a:solidFill>
                <a:ln w="9525">
                  <a:solidFill>
                    <a:schemeClr val="accent2"/>
                  </a:solidFill>
                  <a:round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3C-7643-4929-B49B-6D70A1D6C3F1}"/>
              </c:ext>
            </c:extLst>
          </c:dPt>
          <c:dPt>
            <c:idx val="6"/>
            <c:marker>
              <c:symbol val="diamond"/>
              <c:size val="6"/>
              <c:spPr>
                <a:solidFill>
                  <a:schemeClr val="accent2"/>
                </a:solidFill>
                <a:ln w="9525">
                  <a:solidFill>
                    <a:schemeClr val="accent2"/>
                  </a:solidFill>
                  <a:round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3B-7643-4929-B49B-6D70A1D6C3F1}"/>
              </c:ext>
            </c:extLst>
          </c:dPt>
          <c:dPt>
            <c:idx val="7"/>
            <c:marker>
              <c:symbol val="diamond"/>
              <c:size val="6"/>
              <c:spPr>
                <a:solidFill>
                  <a:schemeClr val="accent2"/>
                </a:solidFill>
                <a:ln w="9525">
                  <a:solidFill>
                    <a:schemeClr val="accent2"/>
                  </a:solidFill>
                  <a:round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3A-7643-4929-B49B-6D70A1D6C3F1}"/>
              </c:ext>
            </c:extLst>
          </c:dPt>
          <c:dPt>
            <c:idx val="8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39-7643-4929-B49B-6D70A1D6C3F1}"/>
              </c:ext>
            </c:extLst>
          </c:dPt>
          <c:dPt>
            <c:idx val="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38-7643-4929-B49B-6D70A1D6C3F1}"/>
              </c:ext>
            </c:extLst>
          </c:dPt>
          <c:dPt>
            <c:idx val="10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45-6665-4161-B0FC-8176DC610B2B}"/>
              </c:ext>
            </c:extLst>
          </c:dPt>
          <c:dPt>
            <c:idx val="11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46-6665-4161-B0FC-8176DC610B2B}"/>
              </c:ext>
            </c:extLst>
          </c:dPt>
          <c:dPt>
            <c:idx val="12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47-6665-4161-B0FC-8176DC610B2B}"/>
              </c:ext>
            </c:extLst>
          </c:dPt>
          <c:dPt>
            <c:idx val="13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48-6665-4161-B0FC-8176DC610B2B}"/>
              </c:ext>
            </c:extLst>
          </c:dPt>
          <c:dPt>
            <c:idx val="14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49-6665-4161-B0FC-8176DC610B2B}"/>
              </c:ext>
            </c:extLst>
          </c:dPt>
          <c:dPt>
            <c:idx val="15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4A-6665-4161-B0FC-8176DC610B2B}"/>
              </c:ext>
            </c:extLst>
          </c:dPt>
          <c:dPt>
            <c:idx val="16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4B-6665-4161-B0FC-8176DC610B2B}"/>
              </c:ext>
            </c:extLst>
          </c:dPt>
          <c:dPt>
            <c:idx val="17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37-7643-4929-B49B-6D70A1D6C3F1}"/>
              </c:ext>
            </c:extLst>
          </c:dPt>
          <c:dPt>
            <c:idx val="18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31-7643-4929-B49B-6D70A1D6C3F1}"/>
              </c:ext>
            </c:extLst>
          </c:dPt>
          <c:dPt>
            <c:idx val="1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32-7643-4929-B49B-6D70A1D6C3F1}"/>
              </c:ext>
            </c:extLst>
          </c:dPt>
          <c:dPt>
            <c:idx val="20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33-7643-4929-B49B-6D70A1D6C3F1}"/>
              </c:ext>
            </c:extLst>
          </c:dPt>
          <c:dPt>
            <c:idx val="21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34-7643-4929-B49B-6D70A1D6C3F1}"/>
              </c:ext>
            </c:extLst>
          </c:dPt>
          <c:dPt>
            <c:idx val="22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35-7643-4929-B49B-6D70A1D6C3F1}"/>
              </c:ext>
            </c:extLst>
          </c:dPt>
          <c:dPt>
            <c:idx val="23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36-7643-4929-B49B-6D70A1D6C3F1}"/>
              </c:ext>
            </c:extLst>
          </c:dPt>
          <c:cat>
            <c:strRef>
              <c:f>Лист1!$A$2:$A$25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Лист1!$B$2:$B$25</c:f>
              <c:numCache>
                <c:formatCode>General</c:formatCode>
                <c:ptCount val="24"/>
                <c:pt idx="0">
                  <c:v>174.11329910948712</c:v>
                </c:pt>
                <c:pt idx="1">
                  <c:v>163.332031625323</c:v>
                </c:pt>
                <c:pt idx="2">
                  <c:v>158.88629693974508</c:v>
                </c:pt>
                <c:pt idx="3">
                  <c:v>229.57233228720725</c:v>
                </c:pt>
                <c:pt idx="4">
                  <c:v>204.44544293638319</c:v>
                </c:pt>
                <c:pt idx="5">
                  <c:v>255.24490202361767</c:v>
                </c:pt>
                <c:pt idx="6">
                  <c:v>218.92225941410288</c:v>
                </c:pt>
                <c:pt idx="7">
                  <c:v>168.05249165442973</c:v>
                </c:pt>
                <c:pt idx="8">
                  <c:v>182.65385282167699</c:v>
                </c:pt>
                <c:pt idx="9">
                  <c:v>175.5822123830622</c:v>
                </c:pt>
                <c:pt idx="10">
                  <c:v>184.1288500232622</c:v>
                </c:pt>
                <c:pt idx="11">
                  <c:v>176.33044847725824</c:v>
                </c:pt>
                <c:pt idx="12">
                  <c:v>167.97717689138176</c:v>
                </c:pt>
                <c:pt idx="13">
                  <c:v>188.69799410281502</c:v>
                </c:pt>
                <c:pt idx="14">
                  <c:v>172.17041899304604</c:v>
                </c:pt>
                <c:pt idx="15">
                  <c:v>181.28263763937866</c:v>
                </c:pt>
                <c:pt idx="16">
                  <c:v>180.51906757451513</c:v>
                </c:pt>
                <c:pt idx="17">
                  <c:v>174.06222983738598</c:v>
                </c:pt>
                <c:pt idx="18">
                  <c:v>179.90113990012239</c:v>
                </c:pt>
                <c:pt idx="19">
                  <c:v>149.36739846598357</c:v>
                </c:pt>
                <c:pt idx="20">
                  <c:v>187.75519163202262</c:v>
                </c:pt>
                <c:pt idx="21">
                  <c:v>182.21170140237993</c:v>
                </c:pt>
                <c:pt idx="22">
                  <c:v>195.63714303996761</c:v>
                </c:pt>
                <c:pt idx="23">
                  <c:v>192.76051621020932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50F-472B-931C-DE572741A5C7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2</c:v>
                </c:pt>
              </c:strCache>
            </c:strRef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square"/>
            <c:size val="6"/>
            <c:spPr>
              <a:solidFill>
                <a:schemeClr val="accent4"/>
              </a:solidFill>
              <a:ln w="9525">
                <a:solidFill>
                  <a:schemeClr val="accent4"/>
                </a:solidFill>
                <a:round/>
              </a:ln>
              <a:effectLst/>
            </c:spPr>
          </c:marker>
          <c:dPt>
            <c:idx val="0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42-7643-4929-B49B-6D70A1D6C3F1}"/>
              </c:ext>
            </c:extLst>
          </c:dPt>
          <c:dPt>
            <c:idx val="1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43-7643-4929-B49B-6D70A1D6C3F1}"/>
              </c:ext>
            </c:extLst>
          </c:dPt>
          <c:dPt>
            <c:idx val="2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44-7643-4929-B49B-6D70A1D6C3F1}"/>
              </c:ext>
            </c:extLst>
          </c:dPt>
          <c:dPt>
            <c:idx val="3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45-7643-4929-B49B-6D70A1D6C3F1}"/>
              </c:ext>
            </c:extLst>
          </c:dPt>
          <c:dPt>
            <c:idx val="4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46-7643-4929-B49B-6D70A1D6C3F1}"/>
              </c:ext>
            </c:extLst>
          </c:dPt>
          <c:dPt>
            <c:idx val="5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47-7643-4929-B49B-6D70A1D6C3F1}"/>
              </c:ext>
            </c:extLst>
          </c:dPt>
          <c:dPt>
            <c:idx val="6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48-7643-4929-B49B-6D70A1D6C3F1}"/>
              </c:ext>
            </c:extLst>
          </c:dPt>
          <c:dPt>
            <c:idx val="7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49-7643-4929-B49B-6D70A1D6C3F1}"/>
              </c:ext>
            </c:extLst>
          </c:dPt>
          <c:dPt>
            <c:idx val="8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4A-7643-4929-B49B-6D70A1D6C3F1}"/>
              </c:ext>
            </c:extLst>
          </c:dPt>
          <c:dPt>
            <c:idx val="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4B-7643-4929-B49B-6D70A1D6C3F1}"/>
              </c:ext>
            </c:extLst>
          </c:dPt>
          <c:dPt>
            <c:idx val="17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4C-7643-4929-B49B-6D70A1D6C3F1}"/>
              </c:ext>
            </c:extLst>
          </c:dPt>
          <c:dPt>
            <c:idx val="18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4D-7643-4929-B49B-6D70A1D6C3F1}"/>
              </c:ext>
            </c:extLst>
          </c:dPt>
          <c:dPt>
            <c:idx val="1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4E-7643-4929-B49B-6D70A1D6C3F1}"/>
              </c:ext>
            </c:extLst>
          </c:dPt>
          <c:dPt>
            <c:idx val="20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4F-7643-4929-B49B-6D70A1D6C3F1}"/>
              </c:ext>
            </c:extLst>
          </c:dPt>
          <c:dPt>
            <c:idx val="21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50-7643-4929-B49B-6D70A1D6C3F1}"/>
              </c:ext>
            </c:extLst>
          </c:dPt>
          <c:dPt>
            <c:idx val="22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51-7643-4929-B49B-6D70A1D6C3F1}"/>
              </c:ext>
            </c:extLst>
          </c:dPt>
          <c:dPt>
            <c:idx val="23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52-7643-4929-B49B-6D70A1D6C3F1}"/>
              </c:ext>
            </c:extLst>
          </c:dPt>
          <c:cat>
            <c:strRef>
              <c:f>Лист1!$A$2:$A$25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Лист1!$C$2:$C$25</c:f>
              <c:numCache>
                <c:formatCode>General</c:formatCode>
                <c:ptCount val="24"/>
                <c:pt idx="0">
                  <c:v>86.507277672849398</c:v>
                </c:pt>
                <c:pt idx="1">
                  <c:v>88.265350438437309</c:v>
                </c:pt>
                <c:pt idx="2">
                  <c:v>83.669876594917454</c:v>
                </c:pt>
                <c:pt idx="3">
                  <c:v>89.993142603319697</c:v>
                </c:pt>
                <c:pt idx="4">
                  <c:v>87.289175158937923</c:v>
                </c:pt>
                <c:pt idx="5">
                  <c:v>84.794897993013961</c:v>
                </c:pt>
                <c:pt idx="6">
                  <c:v>82.442627421447213</c:v>
                </c:pt>
                <c:pt idx="7">
                  <c:v>87.184424774022773</c:v>
                </c:pt>
                <c:pt idx="8">
                  <c:v>92.712635555468069</c:v>
                </c:pt>
                <c:pt idx="9">
                  <c:v>86.719907649437431</c:v>
                </c:pt>
                <c:pt idx="10">
                  <c:v>81.623381253198858</c:v>
                </c:pt>
                <c:pt idx="11">
                  <c:v>160.37349547664886</c:v>
                </c:pt>
                <c:pt idx="12">
                  <c:v>163.6010618108316</c:v>
                </c:pt>
                <c:pt idx="13">
                  <c:v>162.42156492480248</c:v>
                </c:pt>
                <c:pt idx="14">
                  <c:v>154.95891880287203</c:v>
                </c:pt>
                <c:pt idx="15">
                  <c:v>160.23663775118834</c:v>
                </c:pt>
                <c:pt idx="16">
                  <c:v>83.875950435841716</c:v>
                </c:pt>
                <c:pt idx="17">
                  <c:v>81.199407939276938</c:v>
                </c:pt>
                <c:pt idx="18">
                  <c:v>85.924357140262785</c:v>
                </c:pt>
                <c:pt idx="19">
                  <c:v>98.382577484834101</c:v>
                </c:pt>
                <c:pt idx="20">
                  <c:v>93.898038735185466</c:v>
                </c:pt>
                <c:pt idx="21">
                  <c:v>85.969118771831845</c:v>
                </c:pt>
                <c:pt idx="22">
                  <c:v>79.915881261168678</c:v>
                </c:pt>
                <c:pt idx="23">
                  <c:v>92.20709669441635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643-4929-B49B-6D70A1D6C3F1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3</c:v>
                </c:pt>
              </c:strCache>
            </c:strRef>
          </c:tx>
          <c:spPr>
            <a:ln w="19050" cap="rnd">
              <a:solidFill>
                <a:schemeClr val="accent6"/>
              </a:solidFill>
              <a:round/>
            </a:ln>
            <a:effectLst/>
          </c:spPr>
          <c:marker>
            <c:symbol val="triangle"/>
            <c:size val="6"/>
            <c:spPr>
              <a:solidFill>
                <a:schemeClr val="accent6"/>
              </a:solidFill>
              <a:ln w="9525">
                <a:solidFill>
                  <a:schemeClr val="accent6"/>
                </a:solidFill>
                <a:round/>
              </a:ln>
              <a:effectLst/>
            </c:spPr>
          </c:marker>
          <c:dPt>
            <c:idx val="0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53-7643-4929-B49B-6D70A1D6C3F1}"/>
              </c:ext>
            </c:extLst>
          </c:dPt>
          <c:dPt>
            <c:idx val="1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54-7643-4929-B49B-6D70A1D6C3F1}"/>
              </c:ext>
            </c:extLst>
          </c:dPt>
          <c:dPt>
            <c:idx val="2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55-7643-4929-B49B-6D70A1D6C3F1}"/>
              </c:ext>
            </c:extLst>
          </c:dPt>
          <c:dPt>
            <c:idx val="3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56-7643-4929-B49B-6D70A1D6C3F1}"/>
              </c:ext>
            </c:extLst>
          </c:dPt>
          <c:dPt>
            <c:idx val="4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57-7643-4929-B49B-6D70A1D6C3F1}"/>
              </c:ext>
            </c:extLst>
          </c:dPt>
          <c:dPt>
            <c:idx val="5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58-7643-4929-B49B-6D70A1D6C3F1}"/>
              </c:ext>
            </c:extLst>
          </c:dPt>
          <c:dPt>
            <c:idx val="6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59-7643-4929-B49B-6D70A1D6C3F1}"/>
              </c:ext>
            </c:extLst>
          </c:dPt>
          <c:dPt>
            <c:idx val="7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5A-7643-4929-B49B-6D70A1D6C3F1}"/>
              </c:ext>
            </c:extLst>
          </c:dPt>
          <c:dPt>
            <c:idx val="8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5B-7643-4929-B49B-6D70A1D6C3F1}"/>
              </c:ext>
            </c:extLst>
          </c:dPt>
          <c:dPt>
            <c:idx val="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5C-7643-4929-B49B-6D70A1D6C3F1}"/>
              </c:ext>
            </c:extLst>
          </c:dPt>
          <c:dPt>
            <c:idx val="10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5D-7643-4929-B49B-6D70A1D6C3F1}"/>
              </c:ext>
            </c:extLst>
          </c:dPt>
          <c:dPt>
            <c:idx val="11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5E-7643-4929-B49B-6D70A1D6C3F1}"/>
              </c:ext>
            </c:extLst>
          </c:dPt>
          <c:dPt>
            <c:idx val="12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5F-7643-4929-B49B-6D70A1D6C3F1}"/>
              </c:ext>
            </c:extLst>
          </c:dPt>
          <c:dPt>
            <c:idx val="13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60-7643-4929-B49B-6D70A1D6C3F1}"/>
              </c:ext>
            </c:extLst>
          </c:dPt>
          <c:dPt>
            <c:idx val="14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61-7643-4929-B49B-6D70A1D6C3F1}"/>
              </c:ext>
            </c:extLst>
          </c:dPt>
          <c:dPt>
            <c:idx val="15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62-7643-4929-B49B-6D70A1D6C3F1}"/>
              </c:ext>
            </c:extLst>
          </c:dPt>
          <c:cat>
            <c:strRef>
              <c:f>Лист1!$A$2:$A$25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Лист1!$D$2:$D$25</c:f>
              <c:numCache>
                <c:formatCode>General</c:formatCode>
                <c:ptCount val="24"/>
                <c:pt idx="0">
                  <c:v>96.191763466851285</c:v>
                </c:pt>
                <c:pt idx="1">
                  <c:v>98.923699772048337</c:v>
                </c:pt>
                <c:pt idx="2">
                  <c:v>88.127189909573644</c:v>
                </c:pt>
                <c:pt idx="3">
                  <c:v>83.718173347926722</c:v>
                </c:pt>
                <c:pt idx="4">
                  <c:v>96.796966756365322</c:v>
                </c:pt>
                <c:pt idx="5">
                  <c:v>92.736195063437606</c:v>
                </c:pt>
                <c:pt idx="6">
                  <c:v>103.7297684853053</c:v>
                </c:pt>
                <c:pt idx="7">
                  <c:v>71.293763483620509</c:v>
                </c:pt>
                <c:pt idx="8">
                  <c:v>89.874351004670771</c:v>
                </c:pt>
                <c:pt idx="9">
                  <c:v>76.593845298415729</c:v>
                </c:pt>
                <c:pt idx="10">
                  <c:v>75.575645894787158</c:v>
                </c:pt>
                <c:pt idx="11">
                  <c:v>92.981212574522942</c:v>
                </c:pt>
                <c:pt idx="12">
                  <c:v>80.630079174879938</c:v>
                </c:pt>
                <c:pt idx="13">
                  <c:v>79.552150428678615</c:v>
                </c:pt>
                <c:pt idx="14">
                  <c:v>103.82501608226448</c:v>
                </c:pt>
                <c:pt idx="15">
                  <c:v>95.764655700223827</c:v>
                </c:pt>
                <c:pt idx="16">
                  <c:v>85.787115662956154</c:v>
                </c:pt>
                <c:pt idx="17">
                  <c:v>100.35393512942112</c:v>
                </c:pt>
                <c:pt idx="18">
                  <c:v>108.9830854333584</c:v>
                </c:pt>
                <c:pt idx="19">
                  <c:v>131.7967217038225</c:v>
                </c:pt>
                <c:pt idx="20">
                  <c:v>110.87569734809222</c:v>
                </c:pt>
                <c:pt idx="21">
                  <c:v>141.06709118817977</c:v>
                </c:pt>
                <c:pt idx="22">
                  <c:v>131.30673950198232</c:v>
                </c:pt>
                <c:pt idx="23">
                  <c:v>138.6807914526234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643-4929-B49B-6D70A1D6C3F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7987024"/>
        <c:axId val="147984144"/>
      </c:lineChart>
      <c:catAx>
        <c:axId val="14798702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dirty="0"/>
                  <a:t>час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64" b="0" i="0" u="none" strike="noStrike" kern="1200" cap="all" spc="-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47984144"/>
        <c:crosses val="autoZero"/>
        <c:auto val="1"/>
        <c:lblAlgn val="ctr"/>
        <c:lblOffset val="100"/>
        <c:noMultiLvlLbl val="0"/>
      </c:catAx>
      <c:valAx>
        <c:axId val="1479841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200" b="0" i="0" u="none" strike="noStrike" kern="1200" baseline="0" dirty="0">
                    <a:solidFill>
                      <a:srgbClr val="000000">
                        <a:lumMod val="65000"/>
                        <a:lumOff val="35000"/>
                      </a:srgbClr>
                    </a:solidFill>
                  </a:rPr>
                  <a:t>Ср. длит., сек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479870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cap="none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pPr>
            <a:r>
              <a:rPr lang="ru-RU" sz="1800" b="0" i="0" u="none" strike="noStrike" kern="1200" spc="0" baseline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Динамика количества транзакций </a:t>
            </a:r>
            <a:br>
              <a:rPr lang="ru-RU" sz="1800" b="0" i="0" u="none" strike="noStrike" kern="1200" spc="0" baseline="0" dirty="0">
                <a:solidFill>
                  <a:srgbClr val="000000">
                    <a:lumMod val="65000"/>
                    <a:lumOff val="35000"/>
                  </a:srgbClr>
                </a:solidFill>
              </a:rPr>
            </a:br>
            <a:r>
              <a:rPr lang="ru-RU" sz="1800" b="0" i="0" u="none" strike="noStrike" kern="1200" spc="0" baseline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по серверам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cap="none" spc="120" normalizeH="0" baseline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1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Pt>
            <c:idx val="0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9-B78C-4677-BBD7-48A1C5AB3C4F}"/>
              </c:ext>
            </c:extLst>
          </c:dPt>
          <c:dPt>
            <c:idx val="1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8-B78C-4677-BBD7-48A1C5AB3C4F}"/>
              </c:ext>
            </c:extLst>
          </c:dPt>
          <c:dPt>
            <c:idx val="2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7-B78C-4677-BBD7-48A1C5AB3C4F}"/>
              </c:ext>
            </c:extLst>
          </c:dPt>
          <c:dPt>
            <c:idx val="3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6-B78C-4677-BBD7-48A1C5AB3C4F}"/>
              </c:ext>
            </c:extLst>
          </c:dPt>
          <c:dPt>
            <c:idx val="4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5-B78C-4677-BBD7-48A1C5AB3C4F}"/>
              </c:ext>
            </c:extLst>
          </c:dPt>
          <c:dPt>
            <c:idx val="5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4-B78C-4677-BBD7-48A1C5AB3C4F}"/>
              </c:ext>
            </c:extLst>
          </c:dPt>
          <c:dPt>
            <c:idx val="6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3-B78C-4677-BBD7-48A1C5AB3C4F}"/>
              </c:ext>
            </c:extLst>
          </c:dPt>
          <c:dPt>
            <c:idx val="7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78C-4677-BBD7-48A1C5AB3C4F}"/>
              </c:ext>
            </c:extLst>
          </c:dPt>
          <c:dPt>
            <c:idx val="8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1-B78C-4677-BBD7-48A1C5AB3C4F}"/>
              </c:ext>
            </c:extLst>
          </c:dPt>
          <c:dPt>
            <c:idx val="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0-B78C-4677-BBD7-48A1C5AB3C4F}"/>
              </c:ext>
            </c:extLst>
          </c:dPt>
          <c:dPt>
            <c:idx val="17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1C-B78C-4677-BBD7-48A1C5AB3C4F}"/>
              </c:ext>
            </c:extLst>
          </c:dPt>
          <c:dPt>
            <c:idx val="18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1D-B78C-4677-BBD7-48A1C5AB3C4F}"/>
              </c:ext>
            </c:extLst>
          </c:dPt>
          <c:dPt>
            <c:idx val="1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1E-B78C-4677-BBD7-48A1C5AB3C4F}"/>
              </c:ext>
            </c:extLst>
          </c:dPt>
          <c:dPt>
            <c:idx val="20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1F-B78C-4677-BBD7-48A1C5AB3C4F}"/>
              </c:ext>
            </c:extLst>
          </c:dPt>
          <c:dPt>
            <c:idx val="21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20-B78C-4677-BBD7-48A1C5AB3C4F}"/>
              </c:ext>
            </c:extLst>
          </c:dPt>
          <c:dPt>
            <c:idx val="22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21-B78C-4677-BBD7-48A1C5AB3C4F}"/>
              </c:ext>
            </c:extLst>
          </c:dPt>
          <c:dPt>
            <c:idx val="23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22-B78C-4677-BBD7-48A1C5AB3C4F}"/>
              </c:ext>
            </c:extLst>
          </c:dPt>
          <c:cat>
            <c:strRef>
              <c:f>Лист1!$A$2:$A$25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Лист1!$B$2:$B$25</c:f>
              <c:numCache>
                <c:formatCode>General</c:formatCode>
                <c:ptCount val="24"/>
                <c:pt idx="0">
                  <c:v>69</c:v>
                </c:pt>
                <c:pt idx="1">
                  <c:v>75</c:v>
                </c:pt>
                <c:pt idx="2">
                  <c:v>80</c:v>
                </c:pt>
                <c:pt idx="3">
                  <c:v>60</c:v>
                </c:pt>
                <c:pt idx="4">
                  <c:v>75</c:v>
                </c:pt>
                <c:pt idx="5">
                  <c:v>74</c:v>
                </c:pt>
                <c:pt idx="6">
                  <c:v>90</c:v>
                </c:pt>
                <c:pt idx="7">
                  <c:v>79</c:v>
                </c:pt>
                <c:pt idx="8">
                  <c:v>80</c:v>
                </c:pt>
                <c:pt idx="9">
                  <c:v>83</c:v>
                </c:pt>
                <c:pt idx="10">
                  <c:v>79</c:v>
                </c:pt>
                <c:pt idx="11">
                  <c:v>86</c:v>
                </c:pt>
                <c:pt idx="12">
                  <c:v>83</c:v>
                </c:pt>
                <c:pt idx="13">
                  <c:v>92</c:v>
                </c:pt>
                <c:pt idx="14">
                  <c:v>80</c:v>
                </c:pt>
                <c:pt idx="15">
                  <c:v>96</c:v>
                </c:pt>
                <c:pt idx="16">
                  <c:v>92</c:v>
                </c:pt>
                <c:pt idx="17">
                  <c:v>98</c:v>
                </c:pt>
                <c:pt idx="18">
                  <c:v>82</c:v>
                </c:pt>
                <c:pt idx="19">
                  <c:v>81</c:v>
                </c:pt>
                <c:pt idx="20">
                  <c:v>80</c:v>
                </c:pt>
                <c:pt idx="21">
                  <c:v>92</c:v>
                </c:pt>
                <c:pt idx="22">
                  <c:v>86</c:v>
                </c:pt>
                <c:pt idx="23">
                  <c:v>82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684-47A6-B006-BC5DFE13848A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2</c:v>
                </c:pt>
              </c:strCache>
            </c:strRef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square"/>
            <c:size val="6"/>
            <c:spPr>
              <a:solidFill>
                <a:schemeClr val="accent4"/>
              </a:solidFill>
              <a:ln w="9525">
                <a:solidFill>
                  <a:schemeClr val="accent4"/>
                </a:solidFill>
                <a:round/>
              </a:ln>
              <a:effectLst/>
            </c:spPr>
          </c:marker>
          <c:dPt>
            <c:idx val="0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14-B78C-4677-BBD7-48A1C5AB3C4F}"/>
              </c:ext>
            </c:extLst>
          </c:dPt>
          <c:dPt>
            <c:idx val="1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13-B78C-4677-BBD7-48A1C5AB3C4F}"/>
              </c:ext>
            </c:extLst>
          </c:dPt>
          <c:dPt>
            <c:idx val="2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12-B78C-4677-BBD7-48A1C5AB3C4F}"/>
              </c:ext>
            </c:extLst>
          </c:dPt>
          <c:dPt>
            <c:idx val="3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11-B78C-4677-BBD7-48A1C5AB3C4F}"/>
              </c:ext>
            </c:extLst>
          </c:dPt>
          <c:dPt>
            <c:idx val="4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10-B78C-4677-BBD7-48A1C5AB3C4F}"/>
              </c:ext>
            </c:extLst>
          </c:dPt>
          <c:dPt>
            <c:idx val="5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F-B78C-4677-BBD7-48A1C5AB3C4F}"/>
              </c:ext>
            </c:extLst>
          </c:dPt>
          <c:dPt>
            <c:idx val="6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E-B78C-4677-BBD7-48A1C5AB3C4F}"/>
              </c:ext>
            </c:extLst>
          </c:dPt>
          <c:dPt>
            <c:idx val="7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D-B78C-4677-BBD7-48A1C5AB3C4F}"/>
              </c:ext>
            </c:extLst>
          </c:dPt>
          <c:dPt>
            <c:idx val="8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C-B78C-4677-BBD7-48A1C5AB3C4F}"/>
              </c:ext>
            </c:extLst>
          </c:dPt>
          <c:dPt>
            <c:idx val="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B-B78C-4677-BBD7-48A1C5AB3C4F}"/>
              </c:ext>
            </c:extLst>
          </c:dPt>
          <c:dPt>
            <c:idx val="17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15-B78C-4677-BBD7-48A1C5AB3C4F}"/>
              </c:ext>
            </c:extLst>
          </c:dPt>
          <c:dPt>
            <c:idx val="18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16-B78C-4677-BBD7-48A1C5AB3C4F}"/>
              </c:ext>
            </c:extLst>
          </c:dPt>
          <c:dPt>
            <c:idx val="1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17-B78C-4677-BBD7-48A1C5AB3C4F}"/>
              </c:ext>
            </c:extLst>
          </c:dPt>
          <c:dPt>
            <c:idx val="20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18-B78C-4677-BBD7-48A1C5AB3C4F}"/>
              </c:ext>
            </c:extLst>
          </c:dPt>
          <c:dPt>
            <c:idx val="21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19-B78C-4677-BBD7-48A1C5AB3C4F}"/>
              </c:ext>
            </c:extLst>
          </c:dPt>
          <c:dPt>
            <c:idx val="22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1A-B78C-4677-BBD7-48A1C5AB3C4F}"/>
              </c:ext>
            </c:extLst>
          </c:dPt>
          <c:dPt>
            <c:idx val="23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1B-B78C-4677-BBD7-48A1C5AB3C4F}"/>
              </c:ext>
            </c:extLst>
          </c:dPt>
          <c:cat>
            <c:strRef>
              <c:f>Лист1!$A$2:$A$25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Лист1!$C$2:$C$25</c:f>
              <c:numCache>
                <c:formatCode>General</c:formatCode>
                <c:ptCount val="24"/>
                <c:pt idx="0">
                  <c:v>182</c:v>
                </c:pt>
                <c:pt idx="1">
                  <c:v>163</c:v>
                </c:pt>
                <c:pt idx="2">
                  <c:v>152</c:v>
                </c:pt>
                <c:pt idx="3">
                  <c:v>134</c:v>
                </c:pt>
                <c:pt idx="4">
                  <c:v>163</c:v>
                </c:pt>
                <c:pt idx="5">
                  <c:v>149</c:v>
                </c:pt>
                <c:pt idx="6">
                  <c:v>189</c:v>
                </c:pt>
                <c:pt idx="7">
                  <c:v>180</c:v>
                </c:pt>
                <c:pt idx="8">
                  <c:v>188</c:v>
                </c:pt>
                <c:pt idx="9">
                  <c:v>173</c:v>
                </c:pt>
                <c:pt idx="10">
                  <c:v>168</c:v>
                </c:pt>
                <c:pt idx="11">
                  <c:v>224</c:v>
                </c:pt>
                <c:pt idx="12">
                  <c:v>212</c:v>
                </c:pt>
                <c:pt idx="13">
                  <c:v>233</c:v>
                </c:pt>
                <c:pt idx="14">
                  <c:v>248</c:v>
                </c:pt>
                <c:pt idx="15">
                  <c:v>255</c:v>
                </c:pt>
                <c:pt idx="16">
                  <c:v>182</c:v>
                </c:pt>
                <c:pt idx="17">
                  <c:v>173</c:v>
                </c:pt>
                <c:pt idx="18">
                  <c:v>182</c:v>
                </c:pt>
                <c:pt idx="19">
                  <c:v>186</c:v>
                </c:pt>
                <c:pt idx="20">
                  <c:v>172</c:v>
                </c:pt>
                <c:pt idx="21">
                  <c:v>188</c:v>
                </c:pt>
                <c:pt idx="22">
                  <c:v>199</c:v>
                </c:pt>
                <c:pt idx="23">
                  <c:v>172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558-445D-ACDE-79F76473E077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3</c:v>
                </c:pt>
              </c:strCache>
            </c:strRef>
          </c:tx>
          <c:spPr>
            <a:ln w="19050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strRef>
              <c:f>Лист1!$A$2:$A$25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Лист1!$D$2:$D$25</c:f>
              <c:numCache>
                <c:formatCode>General</c:formatCode>
                <c:ptCount val="24"/>
                <c:pt idx="0">
                  <c:v>49</c:v>
                </c:pt>
                <c:pt idx="1">
                  <c:v>74</c:v>
                </c:pt>
                <c:pt idx="2">
                  <c:v>54</c:v>
                </c:pt>
                <c:pt idx="3">
                  <c:v>49</c:v>
                </c:pt>
                <c:pt idx="4">
                  <c:v>51</c:v>
                </c:pt>
                <c:pt idx="5">
                  <c:v>51</c:v>
                </c:pt>
                <c:pt idx="6">
                  <c:v>53</c:v>
                </c:pt>
                <c:pt idx="7">
                  <c:v>55</c:v>
                </c:pt>
                <c:pt idx="8">
                  <c:v>63</c:v>
                </c:pt>
                <c:pt idx="9">
                  <c:v>57</c:v>
                </c:pt>
                <c:pt idx="10">
                  <c:v>64</c:v>
                </c:pt>
                <c:pt idx="11">
                  <c:v>72</c:v>
                </c:pt>
                <c:pt idx="12">
                  <c:v>60</c:v>
                </c:pt>
                <c:pt idx="13">
                  <c:v>51</c:v>
                </c:pt>
                <c:pt idx="14">
                  <c:v>65</c:v>
                </c:pt>
                <c:pt idx="15">
                  <c:v>62</c:v>
                </c:pt>
                <c:pt idx="16">
                  <c:v>53</c:v>
                </c:pt>
                <c:pt idx="17">
                  <c:v>52</c:v>
                </c:pt>
                <c:pt idx="18">
                  <c:v>58</c:v>
                </c:pt>
                <c:pt idx="19">
                  <c:v>58</c:v>
                </c:pt>
                <c:pt idx="20">
                  <c:v>64</c:v>
                </c:pt>
                <c:pt idx="21">
                  <c:v>61</c:v>
                </c:pt>
                <c:pt idx="22">
                  <c:v>74</c:v>
                </c:pt>
                <c:pt idx="23">
                  <c:v>58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558-445D-ACDE-79F76473E07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47987024"/>
        <c:axId val="147984144"/>
      </c:lineChart>
      <c:catAx>
        <c:axId val="14798702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dirty="0"/>
                  <a:t>час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64" b="0" i="0" u="none" strike="noStrike" kern="1200" cap="all" spc="-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47984144"/>
        <c:crosses val="autoZero"/>
        <c:auto val="1"/>
        <c:lblAlgn val="ctr"/>
        <c:lblOffset val="100"/>
        <c:noMultiLvlLbl val="0"/>
      </c:catAx>
      <c:valAx>
        <c:axId val="1479841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200" b="0" i="0" u="none" strike="noStrike" kern="1200" baseline="0" dirty="0">
                    <a:solidFill>
                      <a:srgbClr val="000000">
                        <a:lumMod val="65000"/>
                        <a:lumOff val="35000"/>
                      </a:srgbClr>
                    </a:solidFill>
                  </a:rPr>
                  <a:t>Количество транзакций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479870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cap="none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pPr>
            <a:r>
              <a:rPr lang="ru-RU" sz="1800" b="0" i="0" u="none" strike="noStrike" kern="1200" spc="0" baseline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Средняя длительность платежа </a:t>
            </a:r>
            <a:br>
              <a:rPr lang="ru-RU" sz="1800" b="0" i="0" u="none" strike="noStrike" kern="1200" spc="0" baseline="0" dirty="0">
                <a:solidFill>
                  <a:srgbClr val="000000">
                    <a:lumMod val="65000"/>
                    <a:lumOff val="35000"/>
                  </a:srgbClr>
                </a:solidFill>
              </a:rPr>
            </a:br>
            <a:r>
              <a:rPr lang="ru-RU" sz="1800" b="0" i="0" u="none" strike="noStrike" kern="1200" spc="0" baseline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в динамике по платежным системам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cap="none" spc="120" normalizeH="0" baseline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MasterCard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diamond"/>
            <c:size val="6"/>
            <c:spPr>
              <a:solidFill>
                <a:schemeClr val="accent2"/>
              </a:solidFill>
              <a:ln w="9525">
                <a:solidFill>
                  <a:schemeClr val="accent2"/>
                </a:solidFill>
                <a:round/>
              </a:ln>
              <a:effectLst/>
            </c:spPr>
          </c:marker>
          <c:dPt>
            <c:idx val="0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41-7643-4929-B49B-6D70A1D6C3F1}"/>
              </c:ext>
            </c:extLst>
          </c:dPt>
          <c:dPt>
            <c:idx val="1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40-7643-4929-B49B-6D70A1D6C3F1}"/>
              </c:ext>
            </c:extLst>
          </c:dPt>
          <c:dPt>
            <c:idx val="2"/>
            <c:marker>
              <c:symbol val="diamond"/>
              <c:size val="6"/>
              <c:spPr>
                <a:solidFill>
                  <a:schemeClr val="accent2"/>
                </a:solidFill>
                <a:ln w="9525">
                  <a:solidFill>
                    <a:schemeClr val="accent2"/>
                  </a:solidFill>
                  <a:round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3F-7643-4929-B49B-6D70A1D6C3F1}"/>
              </c:ext>
            </c:extLst>
          </c:dPt>
          <c:dPt>
            <c:idx val="3"/>
            <c:marker>
              <c:symbol val="diamond"/>
              <c:size val="6"/>
              <c:spPr>
                <a:solidFill>
                  <a:schemeClr val="accent2"/>
                </a:solidFill>
                <a:ln w="9525">
                  <a:solidFill>
                    <a:schemeClr val="accent2"/>
                  </a:solidFill>
                  <a:round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3E-7643-4929-B49B-6D70A1D6C3F1}"/>
              </c:ext>
            </c:extLst>
          </c:dPt>
          <c:dPt>
            <c:idx val="4"/>
            <c:marker>
              <c:symbol val="diamond"/>
              <c:size val="6"/>
              <c:spPr>
                <a:solidFill>
                  <a:schemeClr val="accent2"/>
                </a:solidFill>
                <a:ln w="9525">
                  <a:solidFill>
                    <a:schemeClr val="accent2"/>
                  </a:solidFill>
                  <a:round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3D-7643-4929-B49B-6D70A1D6C3F1}"/>
              </c:ext>
            </c:extLst>
          </c:dPt>
          <c:dPt>
            <c:idx val="5"/>
            <c:marker>
              <c:symbol val="diamond"/>
              <c:size val="6"/>
              <c:spPr>
                <a:solidFill>
                  <a:schemeClr val="accent2"/>
                </a:solidFill>
                <a:ln w="9525">
                  <a:solidFill>
                    <a:schemeClr val="accent2"/>
                  </a:solidFill>
                  <a:round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3C-7643-4929-B49B-6D70A1D6C3F1}"/>
              </c:ext>
            </c:extLst>
          </c:dPt>
          <c:dPt>
            <c:idx val="6"/>
            <c:marker>
              <c:symbol val="diamond"/>
              <c:size val="6"/>
              <c:spPr>
                <a:solidFill>
                  <a:schemeClr val="accent2"/>
                </a:solidFill>
                <a:ln w="9525">
                  <a:solidFill>
                    <a:schemeClr val="accent2"/>
                  </a:solidFill>
                  <a:round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3B-7643-4929-B49B-6D70A1D6C3F1}"/>
              </c:ext>
            </c:extLst>
          </c:dPt>
          <c:dPt>
            <c:idx val="7"/>
            <c:marker>
              <c:symbol val="diamond"/>
              <c:size val="6"/>
              <c:spPr>
                <a:solidFill>
                  <a:schemeClr val="accent2"/>
                </a:solidFill>
                <a:ln w="9525">
                  <a:solidFill>
                    <a:schemeClr val="accent2"/>
                  </a:solidFill>
                  <a:round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3A-7643-4929-B49B-6D70A1D6C3F1}"/>
              </c:ext>
            </c:extLst>
          </c:dPt>
          <c:dPt>
            <c:idx val="8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39-7643-4929-B49B-6D70A1D6C3F1}"/>
              </c:ext>
            </c:extLst>
          </c:dPt>
          <c:dPt>
            <c:idx val="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38-7643-4929-B49B-6D70A1D6C3F1}"/>
              </c:ext>
            </c:extLst>
          </c:dPt>
          <c:dPt>
            <c:idx val="10"/>
            <c:marker>
              <c:symbol val="diamond"/>
              <c:size val="6"/>
              <c:spPr>
                <a:solidFill>
                  <a:schemeClr val="accent2"/>
                </a:solidFill>
                <a:ln w="9525">
                  <a:solidFill>
                    <a:schemeClr val="accent2"/>
                  </a:solidFill>
                  <a:round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45-6665-4161-B0FC-8176DC610B2B}"/>
              </c:ext>
            </c:extLst>
          </c:dPt>
          <c:dPt>
            <c:idx val="11"/>
            <c:marker>
              <c:symbol val="diamond"/>
              <c:size val="6"/>
              <c:spPr>
                <a:solidFill>
                  <a:schemeClr val="accent2"/>
                </a:solidFill>
                <a:ln w="9525">
                  <a:solidFill>
                    <a:schemeClr val="accent2"/>
                  </a:solidFill>
                  <a:round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46-6665-4161-B0FC-8176DC610B2B}"/>
              </c:ext>
            </c:extLst>
          </c:dPt>
          <c:dPt>
            <c:idx val="12"/>
            <c:marker>
              <c:symbol val="diamond"/>
              <c:size val="6"/>
              <c:spPr>
                <a:solidFill>
                  <a:schemeClr val="accent2"/>
                </a:solidFill>
                <a:ln w="9525">
                  <a:solidFill>
                    <a:schemeClr val="accent2"/>
                  </a:solidFill>
                  <a:round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47-6665-4161-B0FC-8176DC610B2B}"/>
              </c:ext>
            </c:extLst>
          </c:dPt>
          <c:dPt>
            <c:idx val="13"/>
            <c:marker>
              <c:symbol val="diamond"/>
              <c:size val="6"/>
              <c:spPr>
                <a:solidFill>
                  <a:schemeClr val="accent2"/>
                </a:solidFill>
                <a:ln w="9525">
                  <a:solidFill>
                    <a:schemeClr val="accent2"/>
                  </a:solidFill>
                  <a:round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48-6665-4161-B0FC-8176DC610B2B}"/>
              </c:ext>
            </c:extLst>
          </c:dPt>
          <c:dPt>
            <c:idx val="14"/>
            <c:marker>
              <c:symbol val="diamond"/>
              <c:size val="6"/>
              <c:spPr>
                <a:solidFill>
                  <a:schemeClr val="accent2"/>
                </a:solidFill>
                <a:ln w="9525">
                  <a:solidFill>
                    <a:schemeClr val="accent2"/>
                  </a:solidFill>
                  <a:round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49-6665-4161-B0FC-8176DC610B2B}"/>
              </c:ext>
            </c:extLst>
          </c:dPt>
          <c:dPt>
            <c:idx val="15"/>
            <c:marker>
              <c:symbol val="diamond"/>
              <c:size val="6"/>
              <c:spPr>
                <a:solidFill>
                  <a:schemeClr val="accent2"/>
                </a:solidFill>
                <a:ln w="9525">
                  <a:solidFill>
                    <a:schemeClr val="accent2"/>
                  </a:solidFill>
                  <a:round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4A-6665-4161-B0FC-8176DC610B2B}"/>
              </c:ext>
            </c:extLst>
          </c:dPt>
          <c:dPt>
            <c:idx val="16"/>
            <c:marker>
              <c:symbol val="diamond"/>
              <c:size val="6"/>
              <c:spPr>
                <a:solidFill>
                  <a:schemeClr val="accent2"/>
                </a:solidFill>
                <a:ln w="9525">
                  <a:solidFill>
                    <a:schemeClr val="accent2"/>
                  </a:solidFill>
                  <a:round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4B-6665-4161-B0FC-8176DC610B2B}"/>
              </c:ext>
            </c:extLst>
          </c:dPt>
          <c:dPt>
            <c:idx val="17"/>
            <c:marker>
              <c:symbol val="diamond"/>
              <c:size val="6"/>
              <c:spPr>
                <a:solidFill>
                  <a:schemeClr val="accent2"/>
                </a:solidFill>
                <a:ln w="9525">
                  <a:solidFill>
                    <a:schemeClr val="accent2"/>
                  </a:solidFill>
                  <a:round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37-7643-4929-B49B-6D70A1D6C3F1}"/>
              </c:ext>
            </c:extLst>
          </c:dPt>
          <c:dPt>
            <c:idx val="18"/>
            <c:marker>
              <c:symbol val="diamond"/>
              <c:size val="6"/>
              <c:spPr>
                <a:solidFill>
                  <a:schemeClr val="accent2"/>
                </a:solidFill>
                <a:ln w="9525">
                  <a:solidFill>
                    <a:schemeClr val="accent2"/>
                  </a:solidFill>
                  <a:round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31-7643-4929-B49B-6D70A1D6C3F1}"/>
              </c:ext>
            </c:extLst>
          </c:dPt>
          <c:dPt>
            <c:idx val="19"/>
            <c:marker>
              <c:symbol val="diamond"/>
              <c:size val="6"/>
              <c:spPr>
                <a:solidFill>
                  <a:schemeClr val="accent2"/>
                </a:solidFill>
                <a:ln w="9525">
                  <a:solidFill>
                    <a:schemeClr val="accent2"/>
                  </a:solidFill>
                  <a:round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32-7643-4929-B49B-6D70A1D6C3F1}"/>
              </c:ext>
            </c:extLst>
          </c:dPt>
          <c:dPt>
            <c:idx val="20"/>
            <c:marker>
              <c:symbol val="diamond"/>
              <c:size val="6"/>
              <c:spPr>
                <a:solidFill>
                  <a:schemeClr val="accent2"/>
                </a:solidFill>
                <a:ln w="9525">
                  <a:solidFill>
                    <a:schemeClr val="accent2"/>
                  </a:solidFill>
                  <a:round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33-7643-4929-B49B-6D70A1D6C3F1}"/>
              </c:ext>
            </c:extLst>
          </c:dPt>
          <c:dPt>
            <c:idx val="21"/>
            <c:marker>
              <c:symbol val="diamond"/>
              <c:size val="6"/>
              <c:spPr>
                <a:solidFill>
                  <a:schemeClr val="accent2"/>
                </a:solidFill>
                <a:ln w="9525">
                  <a:solidFill>
                    <a:schemeClr val="accent2"/>
                  </a:solidFill>
                  <a:round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34-7643-4929-B49B-6D70A1D6C3F1}"/>
              </c:ext>
            </c:extLst>
          </c:dPt>
          <c:dPt>
            <c:idx val="22"/>
            <c:marker>
              <c:symbol val="diamond"/>
              <c:size val="6"/>
              <c:spPr>
                <a:solidFill>
                  <a:schemeClr val="accent2"/>
                </a:solidFill>
                <a:ln w="9525">
                  <a:solidFill>
                    <a:schemeClr val="accent2"/>
                  </a:solidFill>
                  <a:round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35-7643-4929-B49B-6D70A1D6C3F1}"/>
              </c:ext>
            </c:extLst>
          </c:dPt>
          <c:dPt>
            <c:idx val="23"/>
            <c:marker>
              <c:symbol val="diamond"/>
              <c:size val="6"/>
              <c:spPr>
                <a:solidFill>
                  <a:schemeClr val="accent2"/>
                </a:solidFill>
                <a:ln w="9525">
                  <a:solidFill>
                    <a:schemeClr val="accent2"/>
                  </a:solidFill>
                  <a:round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36-7643-4929-B49B-6D70A1D6C3F1}"/>
              </c:ext>
            </c:extLst>
          </c:dPt>
          <c:cat>
            <c:strRef>
              <c:f>Лист1!$A$2:$A$25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Лист1!$B$2:$B$25</c:f>
              <c:numCache>
                <c:formatCode>General</c:formatCode>
                <c:ptCount val="24"/>
                <c:pt idx="0">
                  <c:v>98.004942738997016</c:v>
                </c:pt>
                <c:pt idx="1">
                  <c:v>104.50348966902024</c:v>
                </c:pt>
                <c:pt idx="2">
                  <c:v>106.63820033892989</c:v>
                </c:pt>
                <c:pt idx="3">
                  <c:v>105.07509346974835</c:v>
                </c:pt>
                <c:pt idx="4">
                  <c:v>109.98871595779013</c:v>
                </c:pt>
                <c:pt idx="5">
                  <c:v>136.83009870350361</c:v>
                </c:pt>
                <c:pt idx="6">
                  <c:v>121.09515341243853</c:v>
                </c:pt>
                <c:pt idx="7">
                  <c:v>111.68732674307545</c:v>
                </c:pt>
                <c:pt idx="8">
                  <c:v>122.78747376269446</c:v>
                </c:pt>
                <c:pt idx="9">
                  <c:v>103.87442401393359</c:v>
                </c:pt>
                <c:pt idx="10">
                  <c:v>97.818573527312012</c:v>
                </c:pt>
                <c:pt idx="11">
                  <c:v>152.14204047146569</c:v>
                </c:pt>
                <c:pt idx="12">
                  <c:v>144.9174364897892</c:v>
                </c:pt>
                <c:pt idx="13">
                  <c:v>153.34645864013584</c:v>
                </c:pt>
                <c:pt idx="14">
                  <c:v>161.04652635216459</c:v>
                </c:pt>
                <c:pt idx="15">
                  <c:v>156.1599844214206</c:v>
                </c:pt>
                <c:pt idx="16">
                  <c:v>109.99185800050887</c:v>
                </c:pt>
                <c:pt idx="17">
                  <c:v>108.34328806959093</c:v>
                </c:pt>
                <c:pt idx="18">
                  <c:v>128.29759712965989</c:v>
                </c:pt>
                <c:pt idx="19">
                  <c:v>145.87931551955521</c:v>
                </c:pt>
                <c:pt idx="20">
                  <c:v>153.02663714319351</c:v>
                </c:pt>
                <c:pt idx="21">
                  <c:v>136.87760263384706</c:v>
                </c:pt>
                <c:pt idx="22">
                  <c:v>135.73066582426154</c:v>
                </c:pt>
                <c:pt idx="23">
                  <c:v>160.97159491443375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50F-472B-931C-DE572741A5C7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Visa</c:v>
                </c:pt>
              </c:strCache>
            </c:strRef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square"/>
            <c:size val="6"/>
            <c:spPr>
              <a:solidFill>
                <a:schemeClr val="accent4"/>
              </a:solidFill>
              <a:ln w="9525">
                <a:solidFill>
                  <a:schemeClr val="accent4"/>
                </a:solidFill>
                <a:round/>
              </a:ln>
              <a:effectLst/>
            </c:spPr>
          </c:marker>
          <c:dPt>
            <c:idx val="0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42-7643-4929-B49B-6D70A1D6C3F1}"/>
              </c:ext>
            </c:extLst>
          </c:dPt>
          <c:dPt>
            <c:idx val="1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43-7643-4929-B49B-6D70A1D6C3F1}"/>
              </c:ext>
            </c:extLst>
          </c:dPt>
          <c:dPt>
            <c:idx val="2"/>
            <c:marker>
              <c:symbol val="square"/>
              <c:size val="6"/>
              <c:spPr>
                <a:solidFill>
                  <a:schemeClr val="accent4"/>
                </a:solidFill>
                <a:ln w="9525">
                  <a:solidFill>
                    <a:schemeClr val="accent4"/>
                  </a:solidFill>
                  <a:round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44-7643-4929-B49B-6D70A1D6C3F1}"/>
              </c:ext>
            </c:extLst>
          </c:dPt>
          <c:dPt>
            <c:idx val="3"/>
            <c:marker>
              <c:symbol val="square"/>
              <c:size val="6"/>
              <c:spPr>
                <a:solidFill>
                  <a:schemeClr val="accent4"/>
                </a:solidFill>
                <a:ln w="9525">
                  <a:solidFill>
                    <a:schemeClr val="accent4"/>
                  </a:solidFill>
                  <a:round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45-7643-4929-B49B-6D70A1D6C3F1}"/>
              </c:ext>
            </c:extLst>
          </c:dPt>
          <c:dPt>
            <c:idx val="4"/>
            <c:marker>
              <c:symbol val="square"/>
              <c:size val="6"/>
              <c:spPr>
                <a:solidFill>
                  <a:schemeClr val="accent4"/>
                </a:solidFill>
                <a:ln w="9525">
                  <a:solidFill>
                    <a:schemeClr val="accent4"/>
                  </a:solidFill>
                  <a:round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46-7643-4929-B49B-6D70A1D6C3F1}"/>
              </c:ext>
            </c:extLst>
          </c:dPt>
          <c:dPt>
            <c:idx val="5"/>
            <c:marker>
              <c:symbol val="square"/>
              <c:size val="6"/>
              <c:spPr>
                <a:solidFill>
                  <a:schemeClr val="accent4"/>
                </a:solidFill>
                <a:ln w="9525">
                  <a:solidFill>
                    <a:schemeClr val="accent4"/>
                  </a:solidFill>
                  <a:round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47-7643-4929-B49B-6D70A1D6C3F1}"/>
              </c:ext>
            </c:extLst>
          </c:dPt>
          <c:dPt>
            <c:idx val="6"/>
            <c:marker>
              <c:symbol val="square"/>
              <c:size val="6"/>
              <c:spPr>
                <a:solidFill>
                  <a:schemeClr val="accent4"/>
                </a:solidFill>
                <a:ln w="9525">
                  <a:solidFill>
                    <a:schemeClr val="accent4"/>
                  </a:solidFill>
                  <a:round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48-7643-4929-B49B-6D70A1D6C3F1}"/>
              </c:ext>
            </c:extLst>
          </c:dPt>
          <c:dPt>
            <c:idx val="7"/>
            <c:marker>
              <c:symbol val="square"/>
              <c:size val="6"/>
              <c:spPr>
                <a:solidFill>
                  <a:schemeClr val="accent4"/>
                </a:solidFill>
                <a:ln w="9525">
                  <a:solidFill>
                    <a:schemeClr val="accent4"/>
                  </a:solidFill>
                  <a:round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49-7643-4929-B49B-6D70A1D6C3F1}"/>
              </c:ext>
            </c:extLst>
          </c:dPt>
          <c:dPt>
            <c:idx val="8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4A-7643-4929-B49B-6D70A1D6C3F1}"/>
              </c:ext>
            </c:extLst>
          </c:dPt>
          <c:dPt>
            <c:idx val="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4B-7643-4929-B49B-6D70A1D6C3F1}"/>
              </c:ext>
            </c:extLst>
          </c:dPt>
          <c:dPt>
            <c:idx val="17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4C-7643-4929-B49B-6D70A1D6C3F1}"/>
              </c:ext>
            </c:extLst>
          </c:dPt>
          <c:dPt>
            <c:idx val="18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4D-7643-4929-B49B-6D70A1D6C3F1}"/>
              </c:ext>
            </c:extLst>
          </c:dPt>
          <c:dPt>
            <c:idx val="1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4E-7643-4929-B49B-6D70A1D6C3F1}"/>
              </c:ext>
            </c:extLst>
          </c:dPt>
          <c:dPt>
            <c:idx val="20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4F-7643-4929-B49B-6D70A1D6C3F1}"/>
              </c:ext>
            </c:extLst>
          </c:dPt>
          <c:dPt>
            <c:idx val="21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50-7643-4929-B49B-6D70A1D6C3F1}"/>
              </c:ext>
            </c:extLst>
          </c:dPt>
          <c:dPt>
            <c:idx val="22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51-7643-4929-B49B-6D70A1D6C3F1}"/>
              </c:ext>
            </c:extLst>
          </c:dPt>
          <c:dPt>
            <c:idx val="23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52-7643-4929-B49B-6D70A1D6C3F1}"/>
              </c:ext>
            </c:extLst>
          </c:dPt>
          <c:cat>
            <c:strRef>
              <c:f>Лист1!$A$2:$A$25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Лист1!$C$2:$C$25</c:f>
              <c:numCache>
                <c:formatCode>General</c:formatCode>
                <c:ptCount val="24"/>
                <c:pt idx="0">
                  <c:v>113.9331184584354</c:v>
                </c:pt>
                <c:pt idx="1">
                  <c:v>118.51813853942215</c:v>
                </c:pt>
                <c:pt idx="2">
                  <c:v>106.28921470564345</c:v>
                </c:pt>
                <c:pt idx="3">
                  <c:v>122.74794969940558</c:v>
                </c:pt>
                <c:pt idx="4">
                  <c:v>120.90261769535149</c:v>
                </c:pt>
                <c:pt idx="5">
                  <c:v>133.52976570505712</c:v>
                </c:pt>
                <c:pt idx="6">
                  <c:v>125.25377968268003</c:v>
                </c:pt>
                <c:pt idx="7">
                  <c:v>105.52373028282697</c:v>
                </c:pt>
                <c:pt idx="8">
                  <c:v>111.12034194321544</c:v>
                </c:pt>
                <c:pt idx="9">
                  <c:v>110.74600171757665</c:v>
                </c:pt>
                <c:pt idx="10">
                  <c:v>107.80457725307761</c:v>
                </c:pt>
                <c:pt idx="11">
                  <c:v>152.08407824366904</c:v>
                </c:pt>
                <c:pt idx="12">
                  <c:v>149.76138902303879</c:v>
                </c:pt>
                <c:pt idx="13">
                  <c:v>166.64078854600808</c:v>
                </c:pt>
                <c:pt idx="14">
                  <c:v>148.33432658670063</c:v>
                </c:pt>
                <c:pt idx="15">
                  <c:v>159.87263613443992</c:v>
                </c:pt>
                <c:pt idx="16">
                  <c:v>109.55382721005734</c:v>
                </c:pt>
                <c:pt idx="17">
                  <c:v>111.96749041449617</c:v>
                </c:pt>
                <c:pt idx="18">
                  <c:v>113.06782551270364</c:v>
                </c:pt>
                <c:pt idx="19">
                  <c:v>104.15490594127083</c:v>
                </c:pt>
                <c:pt idx="20">
                  <c:v>106.89762774152014</c:v>
                </c:pt>
                <c:pt idx="21">
                  <c:v>112.89883423057135</c:v>
                </c:pt>
                <c:pt idx="22">
                  <c:v>111.73753200564533</c:v>
                </c:pt>
                <c:pt idx="23">
                  <c:v>113.96886988826279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643-4929-B49B-6D70A1D6C3F1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МИР</c:v>
                </c:pt>
              </c:strCache>
            </c:strRef>
          </c:tx>
          <c:spPr>
            <a:ln w="19050" cap="rnd">
              <a:solidFill>
                <a:schemeClr val="accent6"/>
              </a:solidFill>
              <a:round/>
            </a:ln>
            <a:effectLst/>
          </c:spPr>
          <c:marker>
            <c:symbol val="triangle"/>
            <c:size val="6"/>
            <c:spPr>
              <a:solidFill>
                <a:schemeClr val="accent6"/>
              </a:solidFill>
              <a:ln w="9525">
                <a:solidFill>
                  <a:schemeClr val="accent6"/>
                </a:solidFill>
                <a:round/>
              </a:ln>
              <a:effectLst/>
            </c:spPr>
          </c:marker>
          <c:dPt>
            <c:idx val="0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53-7643-4929-B49B-6D70A1D6C3F1}"/>
              </c:ext>
            </c:extLst>
          </c:dPt>
          <c:dPt>
            <c:idx val="1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54-7643-4929-B49B-6D70A1D6C3F1}"/>
              </c:ext>
            </c:extLst>
          </c:dPt>
          <c:dPt>
            <c:idx val="2"/>
            <c:marker>
              <c:symbol val="triangle"/>
              <c:size val="6"/>
              <c:spPr>
                <a:solidFill>
                  <a:schemeClr val="accent6"/>
                </a:solidFill>
                <a:ln w="9525">
                  <a:solidFill>
                    <a:schemeClr val="accent6"/>
                  </a:solidFill>
                  <a:round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55-7643-4929-B49B-6D70A1D6C3F1}"/>
              </c:ext>
            </c:extLst>
          </c:dPt>
          <c:dPt>
            <c:idx val="3"/>
            <c:marker>
              <c:symbol val="triangle"/>
              <c:size val="6"/>
              <c:spPr>
                <a:solidFill>
                  <a:schemeClr val="accent6"/>
                </a:solidFill>
                <a:ln w="9525">
                  <a:solidFill>
                    <a:schemeClr val="accent6"/>
                  </a:solidFill>
                  <a:round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56-7643-4929-B49B-6D70A1D6C3F1}"/>
              </c:ext>
            </c:extLst>
          </c:dPt>
          <c:dPt>
            <c:idx val="4"/>
            <c:marker>
              <c:symbol val="triangle"/>
              <c:size val="6"/>
              <c:spPr>
                <a:solidFill>
                  <a:schemeClr val="accent6"/>
                </a:solidFill>
                <a:ln w="9525">
                  <a:solidFill>
                    <a:schemeClr val="accent6"/>
                  </a:solidFill>
                  <a:round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57-7643-4929-B49B-6D70A1D6C3F1}"/>
              </c:ext>
            </c:extLst>
          </c:dPt>
          <c:dPt>
            <c:idx val="5"/>
            <c:marker>
              <c:symbol val="triangle"/>
              <c:size val="6"/>
              <c:spPr>
                <a:solidFill>
                  <a:schemeClr val="accent6"/>
                </a:solidFill>
                <a:ln w="9525">
                  <a:solidFill>
                    <a:schemeClr val="accent6"/>
                  </a:solidFill>
                  <a:round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58-7643-4929-B49B-6D70A1D6C3F1}"/>
              </c:ext>
            </c:extLst>
          </c:dPt>
          <c:dPt>
            <c:idx val="6"/>
            <c:marker>
              <c:symbol val="triangle"/>
              <c:size val="6"/>
              <c:spPr>
                <a:solidFill>
                  <a:schemeClr val="accent6"/>
                </a:solidFill>
                <a:ln w="9525">
                  <a:solidFill>
                    <a:schemeClr val="accent6"/>
                  </a:solidFill>
                  <a:round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59-7643-4929-B49B-6D70A1D6C3F1}"/>
              </c:ext>
            </c:extLst>
          </c:dPt>
          <c:dPt>
            <c:idx val="7"/>
            <c:marker>
              <c:symbol val="triangle"/>
              <c:size val="6"/>
              <c:spPr>
                <a:solidFill>
                  <a:schemeClr val="accent6"/>
                </a:solidFill>
                <a:ln w="9525">
                  <a:solidFill>
                    <a:schemeClr val="accent6"/>
                  </a:solidFill>
                  <a:round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5A-7643-4929-B49B-6D70A1D6C3F1}"/>
              </c:ext>
            </c:extLst>
          </c:dPt>
          <c:dPt>
            <c:idx val="8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5B-7643-4929-B49B-6D70A1D6C3F1}"/>
              </c:ext>
            </c:extLst>
          </c:dPt>
          <c:dPt>
            <c:idx val="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5C-7643-4929-B49B-6D70A1D6C3F1}"/>
              </c:ext>
            </c:extLst>
          </c:dPt>
          <c:dPt>
            <c:idx val="10"/>
            <c:marker>
              <c:symbol val="triangle"/>
              <c:size val="6"/>
              <c:spPr>
                <a:solidFill>
                  <a:schemeClr val="accent6"/>
                </a:solidFill>
                <a:ln w="9525">
                  <a:solidFill>
                    <a:schemeClr val="accent6"/>
                  </a:solidFill>
                  <a:round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5D-7643-4929-B49B-6D70A1D6C3F1}"/>
              </c:ext>
            </c:extLst>
          </c:dPt>
          <c:dPt>
            <c:idx val="11"/>
            <c:marker>
              <c:symbol val="triangle"/>
              <c:size val="6"/>
              <c:spPr>
                <a:solidFill>
                  <a:schemeClr val="accent6"/>
                </a:solidFill>
                <a:ln w="9525">
                  <a:solidFill>
                    <a:schemeClr val="accent6"/>
                  </a:solidFill>
                  <a:round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5E-7643-4929-B49B-6D70A1D6C3F1}"/>
              </c:ext>
            </c:extLst>
          </c:dPt>
          <c:dPt>
            <c:idx val="12"/>
            <c:marker>
              <c:symbol val="triangle"/>
              <c:size val="6"/>
              <c:spPr>
                <a:solidFill>
                  <a:schemeClr val="accent6"/>
                </a:solidFill>
                <a:ln w="9525">
                  <a:solidFill>
                    <a:schemeClr val="accent6"/>
                  </a:solidFill>
                  <a:round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5F-7643-4929-B49B-6D70A1D6C3F1}"/>
              </c:ext>
            </c:extLst>
          </c:dPt>
          <c:dPt>
            <c:idx val="13"/>
            <c:marker>
              <c:symbol val="triangle"/>
              <c:size val="6"/>
              <c:spPr>
                <a:solidFill>
                  <a:schemeClr val="accent6"/>
                </a:solidFill>
                <a:ln w="9525">
                  <a:solidFill>
                    <a:schemeClr val="accent6"/>
                  </a:solidFill>
                  <a:round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60-7643-4929-B49B-6D70A1D6C3F1}"/>
              </c:ext>
            </c:extLst>
          </c:dPt>
          <c:dPt>
            <c:idx val="14"/>
            <c:marker>
              <c:symbol val="triangle"/>
              <c:size val="6"/>
              <c:spPr>
                <a:solidFill>
                  <a:schemeClr val="accent6"/>
                </a:solidFill>
                <a:ln w="9525">
                  <a:solidFill>
                    <a:schemeClr val="accent6"/>
                  </a:solidFill>
                  <a:round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61-7643-4929-B49B-6D70A1D6C3F1}"/>
              </c:ext>
            </c:extLst>
          </c:dPt>
          <c:dPt>
            <c:idx val="15"/>
            <c:marker>
              <c:symbol val="triangle"/>
              <c:size val="6"/>
              <c:spPr>
                <a:solidFill>
                  <a:schemeClr val="accent6"/>
                </a:solidFill>
                <a:ln w="9525">
                  <a:solidFill>
                    <a:schemeClr val="accent6"/>
                  </a:solidFill>
                  <a:round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62-7643-4929-B49B-6D70A1D6C3F1}"/>
              </c:ext>
            </c:extLst>
          </c:dPt>
          <c:dPt>
            <c:idx val="17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3F-5395-4A66-8C6D-8A2624BFD9C1}"/>
              </c:ext>
            </c:extLst>
          </c:dPt>
          <c:dPt>
            <c:idx val="18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3E-5395-4A66-8C6D-8A2624BFD9C1}"/>
              </c:ext>
            </c:extLst>
          </c:dPt>
          <c:dPt>
            <c:idx val="1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3D-5395-4A66-8C6D-8A2624BFD9C1}"/>
              </c:ext>
            </c:extLst>
          </c:dPt>
          <c:dPt>
            <c:idx val="20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3C-5395-4A66-8C6D-8A2624BFD9C1}"/>
              </c:ext>
            </c:extLst>
          </c:dPt>
          <c:dPt>
            <c:idx val="21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3B-5395-4A66-8C6D-8A2624BFD9C1}"/>
              </c:ext>
            </c:extLst>
          </c:dPt>
          <c:dPt>
            <c:idx val="22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3A-5395-4A66-8C6D-8A2624BFD9C1}"/>
              </c:ext>
            </c:extLst>
          </c:dPt>
          <c:dPt>
            <c:idx val="23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39-5395-4A66-8C6D-8A2624BFD9C1}"/>
              </c:ext>
            </c:extLst>
          </c:dPt>
          <c:cat>
            <c:strRef>
              <c:f>Лист1!$A$2:$A$25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Лист1!$D$2:$D$25</c:f>
              <c:numCache>
                <c:formatCode>General</c:formatCode>
                <c:ptCount val="24"/>
                <c:pt idx="0">
                  <c:v>109.11751151738216</c:v>
                </c:pt>
                <c:pt idx="1">
                  <c:v>90.833559767037755</c:v>
                </c:pt>
                <c:pt idx="2">
                  <c:v>102.10764815244053</c:v>
                </c:pt>
                <c:pt idx="3">
                  <c:v>150.70751505810767</c:v>
                </c:pt>
                <c:pt idx="4">
                  <c:v>129.44478819306607</c:v>
                </c:pt>
                <c:pt idx="5">
                  <c:v>123.9528373095461</c:v>
                </c:pt>
                <c:pt idx="6">
                  <c:v>118.58414526738714</c:v>
                </c:pt>
                <c:pt idx="7">
                  <c:v>90.217914395034313</c:v>
                </c:pt>
                <c:pt idx="8">
                  <c:v>103.99905512665188</c:v>
                </c:pt>
                <c:pt idx="9">
                  <c:v>108.91658192813338</c:v>
                </c:pt>
                <c:pt idx="10">
                  <c:v>117.58953381911851</c:v>
                </c:pt>
                <c:pt idx="11">
                  <c:v>148.02394873945963</c:v>
                </c:pt>
                <c:pt idx="12">
                  <c:v>162.95781722778815</c:v>
                </c:pt>
                <c:pt idx="13">
                  <c:v>146.71497822112948</c:v>
                </c:pt>
                <c:pt idx="14">
                  <c:v>138.1733808879662</c:v>
                </c:pt>
                <c:pt idx="15">
                  <c:v>144.86004912606595</c:v>
                </c:pt>
                <c:pt idx="16">
                  <c:v>117.52828556396391</c:v>
                </c:pt>
                <c:pt idx="17">
                  <c:v>119.6862743133679</c:v>
                </c:pt>
                <c:pt idx="18">
                  <c:v>97.626264247362712</c:v>
                </c:pt>
                <c:pt idx="19">
                  <c:v>108.14739344193815</c:v>
                </c:pt>
                <c:pt idx="20">
                  <c:v>107.86299420726776</c:v>
                </c:pt>
                <c:pt idx="21">
                  <c:v>117.94039858068572</c:v>
                </c:pt>
                <c:pt idx="22">
                  <c:v>103.57064268590041</c:v>
                </c:pt>
                <c:pt idx="23">
                  <c:v>100.77668904725995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643-4929-B49B-6D70A1D6C3F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7987024"/>
        <c:axId val="147984144"/>
      </c:lineChart>
      <c:catAx>
        <c:axId val="14798702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dirty="0"/>
                  <a:t>час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64" b="0" i="0" u="none" strike="noStrike" kern="1200" cap="all" spc="-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47984144"/>
        <c:crosses val="autoZero"/>
        <c:auto val="1"/>
        <c:lblAlgn val="ctr"/>
        <c:lblOffset val="100"/>
        <c:noMultiLvlLbl val="0"/>
      </c:catAx>
      <c:valAx>
        <c:axId val="1479841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200" b="0" i="0" u="none" strike="noStrike" kern="1200" baseline="0" dirty="0">
                    <a:solidFill>
                      <a:srgbClr val="000000">
                        <a:lumMod val="65000"/>
                        <a:lumOff val="35000"/>
                      </a:srgbClr>
                    </a:solidFill>
                  </a:rPr>
                  <a:t>Ср. длит., сек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479870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cap="none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pPr>
            <a:r>
              <a:rPr lang="ru-RU" sz="1800" b="0" i="0" u="none" strike="noStrike" kern="1200" spc="0" baseline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Средняя длительность платежа </a:t>
            </a:r>
            <a:br>
              <a:rPr lang="ru-RU" sz="1800" b="0" i="0" u="none" strike="noStrike" kern="1200" spc="0" baseline="0" dirty="0">
                <a:solidFill>
                  <a:srgbClr val="000000">
                    <a:lumMod val="65000"/>
                    <a:lumOff val="35000"/>
                  </a:srgbClr>
                </a:solidFill>
              </a:rPr>
            </a:br>
            <a:r>
              <a:rPr lang="ru-RU" sz="1800" b="0" i="0" u="none" strike="noStrike" kern="1200" spc="0" baseline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по платежным системам и по адресам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cap="none" spc="120" normalizeH="0" baseline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MasterCard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B78C-4677-BBD7-48A1C5AB3C4F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8-B78C-4677-BBD7-48A1C5AB3C4F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B78C-4677-BBD7-48A1C5AB3C4F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6-B78C-4677-BBD7-48A1C5AB3C4F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B78C-4677-BBD7-48A1C5AB3C4F}"/>
              </c:ext>
            </c:extLst>
          </c:dPt>
          <c:dLbls>
            <c:dLbl>
              <c:idx val="2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197" b="0" i="0" u="none" strike="noStrike" kern="1200" baseline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40F26624-DBD4-4BFC-B693-334625D38795}" type="VALUE">
                      <a:rPr lang="en-US" b="1"/>
                      <a:pPr>
                        <a:defRPr/>
                      </a:pPr>
                      <a:t>[ЗНАЧЕНИЕ]</a:t>
                    </a:fld>
                    <a:endParaRPr lang="ru-RU"/>
                  </a:p>
                </c:rich>
              </c:tx>
              <c:numFmt formatCode="#,##0.0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B78C-4677-BBD7-48A1C5AB3C4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Лист1!$A$2:$A$6</c:f>
              <c:strCache>
                <c:ptCount val="5"/>
                <c:pt idx="0">
                  <c:v>Ленинский пр-т, 162/1</c:v>
                </c:pt>
                <c:pt idx="1">
                  <c:v>пр-т Вернадского, 88к3</c:v>
                </c:pt>
                <c:pt idx="2">
                  <c:v>Ракетный б-р, 14к1</c:v>
                </c:pt>
                <c:pt idx="3">
                  <c:v>Симферопольский б-р, 22</c:v>
                </c:pt>
                <c:pt idx="4">
                  <c:v>ул. Щорса, 26/3</c:v>
                </c:pt>
              </c:strCache>
            </c:strRef>
          </c:cat>
          <c:val>
            <c:numRef>
              <c:f>Лист1!$B$2:$B$6</c:f>
              <c:numCache>
                <c:formatCode>General</c:formatCode>
                <c:ptCount val="5"/>
                <c:pt idx="0">
                  <c:v>100.41933723766353</c:v>
                </c:pt>
                <c:pt idx="1">
                  <c:v>115.40172450720416</c:v>
                </c:pt>
                <c:pt idx="2">
                  <c:v>126.7586468341819</c:v>
                </c:pt>
                <c:pt idx="3">
                  <c:v>216.69639450022029</c:v>
                </c:pt>
                <c:pt idx="4">
                  <c:v>155.9879342437489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684-47A6-B006-BC5DFE13848A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Visa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4-B78C-4677-BBD7-48A1C5AB3C4F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3-B78C-4677-BBD7-48A1C5AB3C4F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2-B78C-4677-BBD7-48A1C5AB3C4F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1-B78C-4677-BBD7-48A1C5AB3C4F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0-B78C-4677-BBD7-48A1C5AB3C4F}"/>
              </c:ext>
            </c:extLst>
          </c:dPt>
          <c:cat>
            <c:strRef>
              <c:f>Лист1!$A$2:$A$6</c:f>
              <c:strCache>
                <c:ptCount val="5"/>
                <c:pt idx="0">
                  <c:v>Ленинский пр-т, 162/1</c:v>
                </c:pt>
                <c:pt idx="1">
                  <c:v>пр-т Вернадского, 88к3</c:v>
                </c:pt>
                <c:pt idx="2">
                  <c:v>Ракетный б-р, 14к1</c:v>
                </c:pt>
                <c:pt idx="3">
                  <c:v>Симферопольский б-р, 22</c:v>
                </c:pt>
                <c:pt idx="4">
                  <c:v>ул. Щорса, 26/3</c:v>
                </c:pt>
              </c:strCache>
            </c:strRef>
          </c:cat>
          <c:val>
            <c:numRef>
              <c:f>Лист1!$C$2:$C$6</c:f>
              <c:numCache>
                <c:formatCode>General</c:formatCode>
                <c:ptCount val="5"/>
                <c:pt idx="0">
                  <c:v>95.070660873150928</c:v>
                </c:pt>
                <c:pt idx="1">
                  <c:v>125.62089984483116</c:v>
                </c:pt>
                <c:pt idx="2">
                  <c:v>86.088318711419845</c:v>
                </c:pt>
                <c:pt idx="3">
                  <c:v>219.99303074102431</c:v>
                </c:pt>
                <c:pt idx="4">
                  <c:v>158.53922163081876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558-445D-ACDE-79F76473E077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МИР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Лист1!$A$2:$A$6</c:f>
              <c:strCache>
                <c:ptCount val="5"/>
                <c:pt idx="0">
                  <c:v>Ленинский пр-т, 162/1</c:v>
                </c:pt>
                <c:pt idx="1">
                  <c:v>пр-т Вернадского, 88к3</c:v>
                </c:pt>
                <c:pt idx="2">
                  <c:v>Ракетный б-р, 14к1</c:v>
                </c:pt>
                <c:pt idx="3">
                  <c:v>Симферопольский б-р, 22</c:v>
                </c:pt>
                <c:pt idx="4">
                  <c:v>ул. Щорса, 26/3</c:v>
                </c:pt>
              </c:strCache>
            </c:strRef>
          </c:cat>
          <c:val>
            <c:numRef>
              <c:f>Лист1!$D$2:$D$6</c:f>
              <c:numCache>
                <c:formatCode>General</c:formatCode>
                <c:ptCount val="5"/>
                <c:pt idx="0">
                  <c:v>94.809613312388478</c:v>
                </c:pt>
                <c:pt idx="1">
                  <c:v>122.88025508037815</c:v>
                </c:pt>
                <c:pt idx="2">
                  <c:v>85.245784406940302</c:v>
                </c:pt>
                <c:pt idx="3">
                  <c:v>224.11728557412195</c:v>
                </c:pt>
                <c:pt idx="4">
                  <c:v>158.08082780451514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558-445D-ACDE-79F76473E07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47987024"/>
        <c:axId val="147984144"/>
      </c:barChart>
      <c:catAx>
        <c:axId val="1479870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cap="all" spc="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47984144"/>
        <c:crosses val="autoZero"/>
        <c:auto val="1"/>
        <c:lblAlgn val="ctr"/>
        <c:lblOffset val="100"/>
        <c:noMultiLvlLbl val="0"/>
      </c:catAx>
      <c:valAx>
        <c:axId val="1479841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200" b="0" i="0" u="none" strike="noStrike" kern="1200" cap="all" baseline="0" dirty="0" err="1">
                    <a:solidFill>
                      <a:srgbClr val="000000">
                        <a:lumMod val="65000"/>
                        <a:lumOff val="35000"/>
                      </a:srgbClr>
                    </a:solidFill>
                  </a:rPr>
                  <a:t>Ср.длит</a:t>
                </a:r>
                <a:r>
                  <a:rPr lang="ru-RU" sz="1200" b="0" i="0" u="none" strike="noStrike" kern="1200" cap="all" baseline="0" dirty="0">
                    <a:solidFill>
                      <a:srgbClr val="000000">
                        <a:lumMod val="65000"/>
                        <a:lumOff val="35000"/>
                      </a:srgbClr>
                    </a:solidFill>
                  </a:rPr>
                  <a:t>., сек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479870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cap="none" spc="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ru-RU" sz="1400" b="0" i="0" u="none" strike="noStrike" kern="1200" spc="0" baseline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Влияние сбоя на сервере 1 </a:t>
            </a:r>
            <a:br>
              <a:rPr lang="ru-RU" sz="1400" b="0" i="0" u="none" strike="noStrike" kern="1200" spc="0" baseline="0" dirty="0">
                <a:solidFill>
                  <a:srgbClr val="000000">
                    <a:lumMod val="65000"/>
                    <a:lumOff val="35000"/>
                  </a:srgbClr>
                </a:solidFill>
              </a:rPr>
            </a:br>
            <a:r>
              <a:rPr lang="ru-RU" sz="1400" b="0" i="0" u="none" strike="noStrike" kern="1200" spc="0" baseline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на длительность платежей </a:t>
            </a:r>
            <a:br>
              <a:rPr lang="ru-RU" sz="1400" b="0" i="0" u="none" strike="noStrike" kern="1200" spc="0" baseline="0" dirty="0">
                <a:solidFill>
                  <a:srgbClr val="000000">
                    <a:lumMod val="65000"/>
                    <a:lumOff val="35000"/>
                  </a:srgbClr>
                </a:solidFill>
              </a:rPr>
            </a:br>
            <a:r>
              <a:rPr lang="ru-RU" sz="1400" b="0" i="0" u="none" strike="noStrike" kern="1200" spc="0" baseline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(Весь день 6, кассы самообслуживания, программа лояльности)</a:t>
            </a:r>
          </a:p>
        </c:rich>
      </c:tx>
      <c:layout>
        <c:manualLayout>
          <c:xMode val="edge"/>
          <c:yMode val="edge"/>
          <c:x val="0.11033192020959728"/>
          <c:y val="2.23254571151993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cap="none" spc="0" normalizeH="0" baseline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+mj-ea"/>
              <a:cs typeface="+mj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Количество транзакций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Лист1!$A$2:$A$4</c:f>
              <c:numCache>
                <c:formatCode>General</c:formatCode>
                <c:ptCount val="3"/>
                <c:pt idx="0">
                  <c:v>5</c:v>
                </c:pt>
                <c:pt idx="1">
                  <c:v>6</c:v>
                </c:pt>
                <c:pt idx="2">
                  <c:v>7</c:v>
                </c:pt>
              </c:numCache>
            </c:numRef>
          </c:cat>
          <c:val>
            <c:numRef>
              <c:f>Лист1!$B$2:$B$4</c:f>
              <c:numCache>
                <c:formatCode>General</c:formatCode>
                <c:ptCount val="3"/>
                <c:pt idx="0">
                  <c:v>153</c:v>
                </c:pt>
                <c:pt idx="1">
                  <c:v>207</c:v>
                </c:pt>
                <c:pt idx="2">
                  <c:v>204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84D-4449-9C00-5883E74D72E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83598656"/>
        <c:axId val="183601536"/>
      </c:barChart>
      <c:lineChart>
        <c:grouping val="standard"/>
        <c:varyColors val="0"/>
        <c:ser>
          <c:idx val="1"/>
          <c:order val="1"/>
          <c:tx>
            <c:strRef>
              <c:f>Лист1!$C$1</c:f>
              <c:strCache>
                <c:ptCount val="1"/>
                <c:pt idx="0">
                  <c:v>Средняя длительность платежа</c:v>
                </c:pt>
              </c:strCache>
            </c:strRef>
          </c:tx>
          <c:spPr>
            <a:ln w="3810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numFmt formatCode="#,##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Лист1!$A$2:$A$4</c:f>
              <c:numCache>
                <c:formatCode>General</c:formatCode>
                <c:ptCount val="3"/>
                <c:pt idx="0">
                  <c:v>5</c:v>
                </c:pt>
                <c:pt idx="1">
                  <c:v>6</c:v>
                </c:pt>
                <c:pt idx="2">
                  <c:v>7</c:v>
                </c:pt>
              </c:numCache>
            </c:numRef>
          </c:cat>
          <c:val>
            <c:numRef>
              <c:f>Лист1!$C$2:$C$4</c:f>
              <c:numCache>
                <c:formatCode>0.00</c:formatCode>
                <c:ptCount val="3"/>
                <c:pt idx="0">
                  <c:v>207.90849670986918</c:v>
                </c:pt>
                <c:pt idx="1">
                  <c:v>230.29468595860121</c:v>
                </c:pt>
                <c:pt idx="2">
                  <c:v>186.33333329583846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DA2-4EAE-8BB0-122C4C6EA7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8540880"/>
        <c:axId val="188531760"/>
      </c:lineChart>
      <c:catAx>
        <c:axId val="18854088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dirty="0"/>
                  <a:t>день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none" spc="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88531760"/>
        <c:crosses val="autoZero"/>
        <c:auto val="1"/>
        <c:lblAlgn val="ctr"/>
        <c:lblOffset val="100"/>
        <c:noMultiLvlLbl val="0"/>
      </c:catAx>
      <c:valAx>
        <c:axId val="1885317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100" b="0" i="0" u="none" strike="noStrike" kern="1200" cap="all" baseline="0" dirty="0">
                    <a:solidFill>
                      <a:srgbClr val="000000">
                        <a:lumMod val="65000"/>
                        <a:lumOff val="35000"/>
                      </a:srgbClr>
                    </a:solidFill>
                  </a:rPr>
                  <a:t>Длительность, сек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88540880"/>
        <c:crosses val="autoZero"/>
        <c:crossBetween val="between"/>
      </c:valAx>
      <c:valAx>
        <c:axId val="183601536"/>
        <c:scaling>
          <c:orientation val="minMax"/>
        </c:scaling>
        <c:delete val="0"/>
        <c:axPos val="r"/>
        <c:title>
          <c:tx>
            <c:rich>
              <a:bodyPr rot="5400000" spcFirstLastPara="1" vertOverflow="ellipsis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100" b="0" i="0" u="none" strike="noStrike" kern="1200" cap="all" baseline="0" dirty="0">
                    <a:solidFill>
                      <a:srgbClr val="000000">
                        <a:lumMod val="65000"/>
                        <a:lumOff val="35000"/>
                      </a:srgbClr>
                    </a:solidFill>
                  </a:rPr>
                  <a:t>Кол-во транзакций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5400000" spcFirstLastPara="1" vertOverflow="ellipsis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83598656"/>
        <c:crosses val="max"/>
        <c:crossBetween val="between"/>
      </c:valAx>
      <c:catAx>
        <c:axId val="183598656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83601536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cap="none" spc="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ru-RU" sz="1400" b="0" i="0" u="none" strike="noStrike" kern="1200" spc="0" baseline="0" dirty="0">
                <a:solidFill>
                  <a:srgbClr val="000000">
                    <a:lumMod val="65000"/>
                    <a:lumOff val="35000"/>
                  </a:srgbClr>
                </a:solidFill>
                <a:effectLst/>
              </a:rPr>
              <a:t>Влияние сбоя на сервере 1 </a:t>
            </a:r>
            <a:br>
              <a:rPr lang="ru-RU" sz="1400" b="0" i="0" u="none" strike="noStrike" kern="1200" spc="0" baseline="0" dirty="0">
                <a:solidFill>
                  <a:srgbClr val="000000">
                    <a:lumMod val="65000"/>
                    <a:lumOff val="35000"/>
                  </a:srgbClr>
                </a:solidFill>
                <a:effectLst/>
              </a:rPr>
            </a:br>
            <a:r>
              <a:rPr lang="ru-RU" sz="1400" b="0" i="0" u="none" strike="noStrike" kern="1200" spc="0" baseline="0" dirty="0">
                <a:solidFill>
                  <a:srgbClr val="000000">
                    <a:lumMod val="65000"/>
                    <a:lumOff val="35000"/>
                  </a:srgbClr>
                </a:solidFill>
                <a:effectLst/>
              </a:rPr>
              <a:t>на длительность платежей </a:t>
            </a:r>
            <a:br>
              <a:rPr lang="ru-RU" sz="1400" b="0" i="0" u="none" strike="noStrike" kern="1200" spc="0" baseline="0" dirty="0">
                <a:solidFill>
                  <a:srgbClr val="000000">
                    <a:lumMod val="65000"/>
                    <a:lumOff val="35000"/>
                  </a:srgbClr>
                </a:solidFill>
                <a:effectLst/>
              </a:rPr>
            </a:br>
            <a:r>
              <a:rPr lang="ru-RU" sz="1400" b="0" i="0" u="none" strike="noStrike" kern="1200" spc="0" baseline="0" dirty="0">
                <a:solidFill>
                  <a:srgbClr val="000000">
                    <a:lumMod val="65000"/>
                    <a:lumOff val="35000"/>
                  </a:srgbClr>
                </a:solidFill>
                <a:effectLst/>
              </a:rPr>
              <a:t>(День 5, 00:00-09:00)</a:t>
            </a:r>
            <a:endParaRPr lang="ru-RU" sz="1400" b="0" i="0" u="none" strike="noStrike" kern="1200" spc="0" baseline="0" dirty="0">
              <a:solidFill>
                <a:srgbClr val="000000">
                  <a:lumMod val="65000"/>
                  <a:lumOff val="35000"/>
                </a:srgb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cap="none" spc="0" normalizeH="0" baseline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+mj-ea"/>
              <a:cs typeface="+mj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Количество транзакций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Лист1!$A$2:$A$4</c:f>
              <c:numCache>
                <c:formatCode>General</c:formatCode>
                <c:ptCount val="3"/>
                <c:pt idx="0">
                  <c:v>5</c:v>
                </c:pt>
                <c:pt idx="1">
                  <c:v>6</c:v>
                </c:pt>
                <c:pt idx="2">
                  <c:v>7</c:v>
                </c:pt>
              </c:numCache>
            </c:numRef>
          </c:cat>
          <c:val>
            <c:numRef>
              <c:f>Лист1!$B$2:$B$4</c:f>
              <c:numCache>
                <c:formatCode>General</c:formatCode>
                <c:ptCount val="3"/>
                <c:pt idx="0">
                  <c:v>472</c:v>
                </c:pt>
                <c:pt idx="1">
                  <c:v>550</c:v>
                </c:pt>
                <c:pt idx="2">
                  <c:v>503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312-472E-A99F-DCCCC3C6D75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7"/>
        <c:axId val="2124563344"/>
        <c:axId val="2124562864"/>
      </c:barChart>
      <c:lineChart>
        <c:grouping val="standard"/>
        <c:varyColors val="0"/>
        <c:ser>
          <c:idx val="1"/>
          <c:order val="1"/>
          <c:tx>
            <c:strRef>
              <c:f>Лист1!$C$1</c:f>
              <c:strCache>
                <c:ptCount val="1"/>
                <c:pt idx="0">
                  <c:v>Средняя длительность платежа</c:v>
                </c:pt>
              </c:strCache>
            </c:strRef>
          </c:tx>
          <c:spPr>
            <a:ln w="3810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Lbl>
              <c:idx val="1"/>
              <c:numFmt formatCode="#,##0.0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A312-472E-A99F-DCCCC3C6D759}"/>
                </c:ext>
              </c:extLst>
            </c:dLbl>
            <c:dLbl>
              <c:idx val="2"/>
              <c:numFmt formatCode="#,##0.0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2-A312-472E-A99F-DCCCC3C6D759}"/>
                </c:ext>
              </c:extLst>
            </c:dLbl>
            <c:numFmt formatCode="#,##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Лист1!$A$2:$A$4</c:f>
              <c:numCache>
                <c:formatCode>General</c:formatCode>
                <c:ptCount val="3"/>
                <c:pt idx="0">
                  <c:v>5</c:v>
                </c:pt>
                <c:pt idx="1">
                  <c:v>6</c:v>
                </c:pt>
                <c:pt idx="2">
                  <c:v>7</c:v>
                </c:pt>
              </c:numCache>
            </c:numRef>
          </c:cat>
          <c:val>
            <c:numRef>
              <c:f>Лист1!$C$2:$C$4</c:f>
              <c:numCache>
                <c:formatCode>General</c:formatCode>
                <c:ptCount val="3"/>
                <c:pt idx="0">
                  <c:v>139.92796609547162</c:v>
                </c:pt>
                <c:pt idx="1">
                  <c:v>98.869090915445909</c:v>
                </c:pt>
                <c:pt idx="2">
                  <c:v>97.499005949665346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A312-472E-A99F-DCCCC3C6D75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88540880"/>
        <c:axId val="188531760"/>
      </c:lineChart>
      <c:catAx>
        <c:axId val="18854088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dirty="0"/>
                  <a:t>День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none" spc="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88531760"/>
        <c:crosses val="autoZero"/>
        <c:auto val="1"/>
        <c:lblAlgn val="ctr"/>
        <c:lblOffset val="100"/>
        <c:noMultiLvlLbl val="0"/>
      </c:catAx>
      <c:valAx>
        <c:axId val="188531760"/>
        <c:scaling>
          <c:orientation val="minMax"/>
          <c:max val="17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200" b="0" i="0" u="none" strike="noStrike" kern="1200" baseline="0" dirty="0">
                    <a:solidFill>
                      <a:srgbClr val="000000">
                        <a:lumMod val="65000"/>
                        <a:lumOff val="35000"/>
                      </a:srgbClr>
                    </a:solidFill>
                  </a:rPr>
                  <a:t>Длительность, сек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88540880"/>
        <c:crosses val="autoZero"/>
        <c:crossBetween val="between"/>
      </c:valAx>
      <c:valAx>
        <c:axId val="2124562864"/>
        <c:scaling>
          <c:orientation val="minMax"/>
        </c:scaling>
        <c:delete val="0"/>
        <c:axPos val="r"/>
        <c:title>
          <c:tx>
            <c:rich>
              <a:bodyPr rot="5400000" spcFirstLastPara="1" vertOverflow="ellipsis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200" b="0" i="0" u="none" strike="noStrike" kern="1200" baseline="0" dirty="0">
                    <a:solidFill>
                      <a:srgbClr val="000000">
                        <a:lumMod val="65000"/>
                        <a:lumOff val="35000"/>
                      </a:srgbClr>
                    </a:solidFill>
                  </a:rPr>
                  <a:t>Кол-во транзакций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5400000" spcFirstLastPara="1" vertOverflow="ellipsis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124563344"/>
        <c:crosses val="max"/>
        <c:crossBetween val="between"/>
      </c:valAx>
      <c:catAx>
        <c:axId val="212456334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12456286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cap="none" spc="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ru-RU" sz="1400" b="0" i="0" u="none" strike="noStrike" kern="1200" spc="0" baseline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Влияние сбоя на сервере 2 </a:t>
            </a:r>
            <a:br>
              <a:rPr lang="ru-RU" sz="1400" b="0" i="0" u="none" strike="noStrike" kern="1200" spc="0" baseline="0" dirty="0">
                <a:solidFill>
                  <a:srgbClr val="000000">
                    <a:lumMod val="65000"/>
                    <a:lumOff val="35000"/>
                  </a:srgbClr>
                </a:solidFill>
              </a:rPr>
            </a:br>
            <a:r>
              <a:rPr lang="ru-RU" sz="1400" b="0" i="0" u="none" strike="noStrike" kern="1200" spc="0" baseline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на длительность платежей </a:t>
            </a:r>
            <a:br>
              <a:rPr lang="ru-RU" sz="1400" b="0" i="0" u="none" strike="noStrike" kern="1200" spc="0" baseline="0" dirty="0">
                <a:solidFill>
                  <a:srgbClr val="000000">
                    <a:lumMod val="65000"/>
                    <a:lumOff val="35000"/>
                  </a:srgbClr>
                </a:solidFill>
              </a:rPr>
            </a:br>
            <a:r>
              <a:rPr lang="ru-RU" sz="1400" b="0" i="0" u="none" strike="noStrike" kern="1200" spc="0" baseline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(День 7, 12:00-13:00, </a:t>
            </a:r>
            <a:br>
              <a:rPr lang="ru-RU" sz="1400" b="0" i="0" u="none" strike="noStrike" kern="1200" spc="0" baseline="0" dirty="0">
                <a:solidFill>
                  <a:srgbClr val="000000">
                    <a:lumMod val="65000"/>
                    <a:lumOff val="35000"/>
                  </a:srgbClr>
                </a:solidFill>
              </a:rPr>
            </a:br>
            <a:r>
              <a:rPr lang="ru-RU" sz="1400" b="0" i="0" u="none" strike="noStrike" kern="1200" spc="0" baseline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обычные кассы)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cap="none" spc="0" normalizeH="0" baseline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+mj-ea"/>
              <a:cs typeface="+mj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Количество транзакций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Лист1!$A$2:$A$4</c:f>
              <c:numCache>
                <c:formatCode>General</c:formatCode>
                <c:ptCount val="3"/>
                <c:pt idx="0">
                  <c:v>5</c:v>
                </c:pt>
                <c:pt idx="1">
                  <c:v>6</c:v>
                </c:pt>
                <c:pt idx="2">
                  <c:v>7</c:v>
                </c:pt>
              </c:numCache>
            </c:numRef>
          </c:cat>
          <c:val>
            <c:numRef>
              <c:f>Лист1!$B$2:$B$4</c:f>
              <c:numCache>
                <c:formatCode>General</c:formatCode>
                <c:ptCount val="3"/>
                <c:pt idx="0">
                  <c:v>150</c:v>
                </c:pt>
                <c:pt idx="1">
                  <c:v>168</c:v>
                </c:pt>
                <c:pt idx="2">
                  <c:v>148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FAA-4029-BEAB-5698469A9DD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5"/>
        <c:axId val="2124563344"/>
        <c:axId val="2124562864"/>
      </c:barChart>
      <c:lineChart>
        <c:grouping val="standard"/>
        <c:varyColors val="0"/>
        <c:ser>
          <c:idx val="1"/>
          <c:order val="1"/>
          <c:tx>
            <c:strRef>
              <c:f>Лист1!$C$1</c:f>
              <c:strCache>
                <c:ptCount val="1"/>
                <c:pt idx="0">
                  <c:v>Средняя длительность платежа</c:v>
                </c:pt>
              </c:strCache>
            </c:strRef>
          </c:tx>
          <c:spPr>
            <a:ln w="3810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Lbl>
              <c:idx val="1"/>
              <c:numFmt formatCode="#,##0.0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2FAA-4029-BEAB-5698469A9DD3}"/>
                </c:ext>
              </c:extLst>
            </c:dLbl>
            <c:numFmt formatCode="#,##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Лист1!$A$2:$A$4</c:f>
              <c:numCache>
                <c:formatCode>General</c:formatCode>
                <c:ptCount val="3"/>
                <c:pt idx="0">
                  <c:v>5</c:v>
                </c:pt>
                <c:pt idx="1">
                  <c:v>6</c:v>
                </c:pt>
                <c:pt idx="2">
                  <c:v>7</c:v>
                </c:pt>
              </c:numCache>
            </c:numRef>
          </c:cat>
          <c:val>
            <c:numRef>
              <c:f>Лист1!$C$2:$C$4</c:f>
              <c:numCache>
                <c:formatCode>General</c:formatCode>
                <c:ptCount val="3"/>
                <c:pt idx="0">
                  <c:v>64.986666636541486</c:v>
                </c:pt>
                <c:pt idx="1">
                  <c:v>69.70238094259652</c:v>
                </c:pt>
                <c:pt idx="2">
                  <c:v>114.07432432421734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2FAA-4029-BEAB-5698469A9DD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88540880"/>
        <c:axId val="188531760"/>
      </c:lineChart>
      <c:catAx>
        <c:axId val="18854088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dirty="0"/>
                  <a:t>День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none" spc="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88531760"/>
        <c:crosses val="autoZero"/>
        <c:auto val="1"/>
        <c:lblAlgn val="ctr"/>
        <c:lblOffset val="100"/>
        <c:noMultiLvlLbl val="0"/>
      </c:catAx>
      <c:valAx>
        <c:axId val="188531760"/>
        <c:scaling>
          <c:orientation val="minMax"/>
          <c:max val="17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200" b="0" i="0" u="none" strike="noStrike" kern="1200" baseline="0" dirty="0">
                    <a:solidFill>
                      <a:srgbClr val="000000">
                        <a:lumMod val="65000"/>
                        <a:lumOff val="35000"/>
                      </a:srgbClr>
                    </a:solidFill>
                  </a:rPr>
                  <a:t>Длительность, сек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88540880"/>
        <c:crosses val="autoZero"/>
        <c:crossBetween val="between"/>
      </c:valAx>
      <c:valAx>
        <c:axId val="2124562864"/>
        <c:scaling>
          <c:orientation val="minMax"/>
        </c:scaling>
        <c:delete val="0"/>
        <c:axPos val="r"/>
        <c:title>
          <c:tx>
            <c:rich>
              <a:bodyPr rot="5400000" spcFirstLastPara="1" vertOverflow="ellipsis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200" b="0" i="0" u="none" strike="noStrike" kern="1200" baseline="0" dirty="0">
                    <a:solidFill>
                      <a:srgbClr val="000000">
                        <a:lumMod val="65000"/>
                        <a:lumOff val="35000"/>
                      </a:srgbClr>
                    </a:solidFill>
                  </a:rPr>
                  <a:t>Кол-во транзакций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5400000" spcFirstLastPara="1" vertOverflow="ellipsis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124563344"/>
        <c:crosses val="max"/>
        <c:crossBetween val="between"/>
      </c:valAx>
      <c:catAx>
        <c:axId val="212456334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12456286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cap="none" spc="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ru-RU" sz="1400" b="0" i="0" u="none" strike="noStrike" kern="1200" spc="0" baseline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Динамика количества транзакций </a:t>
            </a:r>
            <a:br>
              <a:rPr lang="ru-RU" sz="1400" b="0" i="0" u="none" strike="noStrike" kern="1200" spc="0" baseline="0" dirty="0">
                <a:solidFill>
                  <a:srgbClr val="000000">
                    <a:lumMod val="65000"/>
                    <a:lumOff val="35000"/>
                  </a:srgbClr>
                </a:solidFill>
              </a:rPr>
            </a:br>
            <a:r>
              <a:rPr lang="ru-RU" sz="1400" b="0" i="0" u="none" strike="noStrike" kern="1200" spc="0" baseline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и среднего чека</a:t>
            </a:r>
          </a:p>
        </c:rich>
      </c:tx>
      <c:layout>
        <c:manualLayout>
          <c:xMode val="edge"/>
          <c:yMode val="edge"/>
          <c:x val="0.11033192020959728"/>
          <c:y val="2.23254571151993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cap="none" spc="0" normalizeH="0" baseline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+mj-ea"/>
              <a:cs typeface="+mj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Количество транзакций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Лист1!$A$2:$A$4</c:f>
              <c:numCache>
                <c:formatCode>General</c:formatCode>
                <c:ptCount val="3"/>
                <c:pt idx="0">
                  <c:v>5</c:v>
                </c:pt>
                <c:pt idx="1">
                  <c:v>6</c:v>
                </c:pt>
                <c:pt idx="2">
                  <c:v>7</c:v>
                </c:pt>
              </c:numCache>
            </c:numRef>
          </c:cat>
          <c:val>
            <c:numRef>
              <c:f>Лист1!$B$2:$B$4</c:f>
              <c:numCache>
                <c:formatCode>General</c:formatCode>
                <c:ptCount val="3"/>
                <c:pt idx="0">
                  <c:v>3388</c:v>
                </c:pt>
                <c:pt idx="1">
                  <c:v>3474</c:v>
                </c:pt>
                <c:pt idx="2">
                  <c:v>3415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5C8-456B-B943-DDE9FBDA4E0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83598656"/>
        <c:axId val="183601536"/>
      </c:barChart>
      <c:lineChart>
        <c:grouping val="standard"/>
        <c:varyColors val="0"/>
        <c:ser>
          <c:idx val="1"/>
          <c:order val="1"/>
          <c:tx>
            <c:strRef>
              <c:f>Лист1!$C$1</c:f>
              <c:strCache>
                <c:ptCount val="1"/>
                <c:pt idx="0">
                  <c:v>Средний чек</c:v>
                </c:pt>
              </c:strCache>
            </c:strRef>
          </c:tx>
          <c:spPr>
            <a:ln w="3810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numFmt formatCode="#,##0.00" sourceLinked="0"/>
            <c:spPr>
              <a:solidFill>
                <a:schemeClr val="bg1">
                  <a:alpha val="66000"/>
                </a:scheme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Лист1!$A$2:$A$4</c:f>
              <c:numCache>
                <c:formatCode>General</c:formatCode>
                <c:ptCount val="3"/>
                <c:pt idx="0">
                  <c:v>5</c:v>
                </c:pt>
                <c:pt idx="1">
                  <c:v>6</c:v>
                </c:pt>
                <c:pt idx="2">
                  <c:v>7</c:v>
                </c:pt>
              </c:numCache>
            </c:numRef>
          </c:cat>
          <c:val>
            <c:numRef>
              <c:f>Лист1!$C$2:$C$4</c:f>
              <c:numCache>
                <c:formatCode>General</c:formatCode>
                <c:ptCount val="3"/>
                <c:pt idx="0">
                  <c:v>18458.94598583235</c:v>
                </c:pt>
                <c:pt idx="1">
                  <c:v>18401.787852619458</c:v>
                </c:pt>
                <c:pt idx="2">
                  <c:v>19914.488140556368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5C8-456B-B943-DDE9FBDA4E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8540880"/>
        <c:axId val="188531760"/>
      </c:lineChart>
      <c:catAx>
        <c:axId val="18854088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dirty="0"/>
                  <a:t>день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none" spc="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88531760"/>
        <c:crosses val="autoZero"/>
        <c:auto val="1"/>
        <c:lblAlgn val="ctr"/>
        <c:lblOffset val="100"/>
        <c:noMultiLvlLbl val="0"/>
      </c:catAx>
      <c:valAx>
        <c:axId val="188531760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100" b="0" i="0" u="none" strike="noStrike" kern="1200" cap="all" baseline="0" dirty="0">
                    <a:solidFill>
                      <a:srgbClr val="000000">
                        <a:lumMod val="65000"/>
                        <a:lumOff val="35000"/>
                      </a:srgbClr>
                    </a:solidFill>
                  </a:rPr>
                  <a:t>Средний чек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88540880"/>
        <c:crosses val="autoZero"/>
        <c:crossBetween val="between"/>
      </c:valAx>
      <c:valAx>
        <c:axId val="183601536"/>
        <c:scaling>
          <c:orientation val="minMax"/>
          <c:min val="0"/>
        </c:scaling>
        <c:delete val="0"/>
        <c:axPos val="r"/>
        <c:title>
          <c:tx>
            <c:rich>
              <a:bodyPr rot="5400000" spcFirstLastPara="1" vertOverflow="ellipsis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100" b="0" i="0" u="none" strike="noStrike" kern="1200" cap="all" baseline="0" dirty="0">
                    <a:solidFill>
                      <a:srgbClr val="000000">
                        <a:lumMod val="65000"/>
                        <a:lumOff val="35000"/>
                      </a:srgbClr>
                    </a:solidFill>
                  </a:rPr>
                  <a:t>Кол-во транзакций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5400000" spcFirstLastPara="1" vertOverflow="ellipsis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83598656"/>
        <c:crosses val="max"/>
        <c:crossBetween val="between"/>
      </c:valAx>
      <c:catAx>
        <c:axId val="183598656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83601536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cap="none" spc="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ru-RU" sz="1800" b="0" i="0" u="none" strike="noStrike" kern="1200" spc="0" baseline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Распределение суммы скидок по </a:t>
            </a:r>
            <a:r>
              <a:rPr lang="ru-RU" sz="1800" b="0" i="0" u="none" strike="noStrike" kern="1200" spc="0" baseline="0" dirty="0" err="1">
                <a:solidFill>
                  <a:srgbClr val="000000">
                    <a:lumMod val="65000"/>
                    <a:lumOff val="35000"/>
                  </a:srgbClr>
                </a:solidFill>
              </a:rPr>
              <a:t>бинам</a:t>
            </a:r>
            <a:endParaRPr lang="ru-RU" sz="1800" b="0" i="0" u="none" strike="noStrike" kern="1200" spc="0" baseline="0" dirty="0">
              <a:solidFill>
                <a:srgbClr val="000000">
                  <a:lumMod val="65000"/>
                  <a:lumOff val="35000"/>
                </a:srgb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cap="none" spc="0" normalizeH="0" baseline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+mj-ea"/>
              <a:cs typeface="+mj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Общая сумма скидок по бину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#,##0\ &quot;₽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numRef>
              <c:f>Лист1!$A$2:$A$6</c:f>
              <c:numCache>
                <c:formatCode>General</c:formatCode>
                <c:ptCount val="5"/>
                <c:pt idx="0">
                  <c:v>0</c:v>
                </c:pt>
                <c:pt idx="1">
                  <c:v>0.01</c:v>
                </c:pt>
                <c:pt idx="2">
                  <c:v>0.02</c:v>
                </c:pt>
                <c:pt idx="3">
                  <c:v>0.03</c:v>
                </c:pt>
                <c:pt idx="4">
                  <c:v>0.04</c:v>
                </c:pt>
              </c:numCache>
            </c:numRef>
          </c:cat>
          <c:val>
            <c:numRef>
              <c:f>Лист1!$B$2:$B$6</c:f>
              <c:numCache>
                <c:formatCode>General</c:formatCode>
                <c:ptCount val="5"/>
                <c:pt idx="0">
                  <c:v>0</c:v>
                </c:pt>
                <c:pt idx="1">
                  <c:v>246507.15988063</c:v>
                </c:pt>
                <c:pt idx="2">
                  <c:v>730390.45374522055</c:v>
                </c:pt>
                <c:pt idx="3">
                  <c:v>1258800.7875509462</c:v>
                </c:pt>
                <c:pt idx="4">
                  <c:v>1765252.9007042588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84D-4449-9C00-5883E74D72E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88540880"/>
        <c:axId val="188531760"/>
      </c:barChart>
      <c:catAx>
        <c:axId val="18854088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dirty="0"/>
                  <a:t>Бины скидок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%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none" spc="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88531760"/>
        <c:crosses val="autoZero"/>
        <c:auto val="1"/>
        <c:lblAlgn val="ctr"/>
        <c:lblOffset val="100"/>
        <c:noMultiLvlLbl val="0"/>
      </c:catAx>
      <c:valAx>
        <c:axId val="1885317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200" b="0" i="0" u="none" strike="noStrike" kern="1200" baseline="0" dirty="0">
                    <a:solidFill>
                      <a:srgbClr val="000000">
                        <a:lumMod val="65000"/>
                        <a:lumOff val="35000"/>
                      </a:srgbClr>
                    </a:solidFill>
                  </a:rPr>
                  <a:t>Общая Сумма скидки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885408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Лист1!$A$2:$A$4</cx:f>
        <cx:lvl ptCount="3">
          <cx:pt idx="0">Группа победителей</cx:pt>
          <cx:pt idx="1">Группа призеров</cx:pt>
          <cx:pt idx="2">Группа обычных участников</cx:pt>
        </cx:lvl>
      </cx:strDim>
      <cx:numDim type="size">
        <cx:f>Лист1!$B$2:$B$4</cx:f>
        <cx:lvl ptCount="3" formatCode="Основной">
          <cx:pt idx="0">0.10336985734959686</cx:pt>
          <cx:pt idx="1">0.04134794293983874</cx:pt>
          <cx:pt idx="2">0.85528219971056441</cx:pt>
        </cx:lvl>
      </cx:numDim>
    </cx:data>
  </cx:chartData>
  <cx:chart>
    <cx:title pos="t" align="ctr" overlay="0">
      <cx:tx>
        <cx:rich>
          <a:bodyPr rot="0" spcFirstLastPara="1" vertOverflow="ellipsis" vert="horz" wrap="square" lIns="38100" tIns="19050" rIns="38100" bIns="19050" anchor="ctr" anchorCtr="1" compatLnSpc="0"/>
          <a:lstStyle/>
          <a:p>
            <a:pPr rtl="0"/>
            <a:r>
              <a:rPr lang="ru-RU" sz="1400" b="0" i="0" u="none" strike="noStrike" kern="1200" cap="none" spc="0" normalizeH="0" baseline="0" dirty="0">
                <a:solidFill>
                  <a:srgbClr val="000000">
                    <a:lumMod val="65000"/>
                    <a:lumOff val="35000"/>
                  </a:srgbClr>
                </a:solidFill>
                <a:latin typeface="+mj-lt"/>
                <a:ea typeface="+mj-ea"/>
                <a:cs typeface="+mj-cs"/>
              </a:rPr>
              <a:t>Доля</a:t>
            </a:r>
            <a:r>
              <a:rPr lang="ru-RU" sz="1400" b="1" i="0" baseline="0" dirty="0">
                <a:effectLst/>
              </a:rPr>
              <a:t> </a:t>
            </a:r>
            <a:r>
              <a:rPr lang="ru-RU" sz="1400" b="0" i="0" u="none" strike="noStrike" kern="1200" cap="none" spc="0" normalizeH="0" baseline="0" dirty="0">
                <a:solidFill>
                  <a:srgbClr val="000000">
                    <a:lumMod val="65000"/>
                    <a:lumOff val="35000"/>
                  </a:srgbClr>
                </a:solidFill>
                <a:latin typeface="+mj-lt"/>
                <a:ea typeface="+mj-ea"/>
                <a:cs typeface="+mj-cs"/>
              </a:rPr>
              <a:t>затрат по группам</a:t>
            </a:r>
          </a:p>
        </cx:rich>
      </cx:tx>
    </cx:title>
    <cx:plotArea>
      <cx:plotAreaRegion>
        <cx:series layoutId="treemap" uniqueId="{04CE0E05-3BF5-48FF-855E-D8A59919574C}">
          <cx:tx>
            <cx:txData>
              <cx:f>Лист1!$B$1</cx:f>
              <cx:v>Итоговые косты в %</cx:v>
            </cx:txData>
          </cx:tx>
          <cx:dataLabels>
            <cx:numFmt formatCode="0,00%" sourceLinked="0"/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b="1">
                    <a:solidFill>
                      <a:schemeClr val="bg1"/>
                    </a:solidFill>
                  </a:defRPr>
                </a:pPr>
                <a:endParaRPr lang="ru-RU" sz="1197" b="1" i="0" u="none" strike="noStrike" kern="1200" baseline="0">
                  <a:solidFill>
                    <a:schemeClr val="bg1"/>
                  </a:solidFill>
                  <a:latin typeface="Aptos" panose="02110004020202020204"/>
                </a:endParaRPr>
              </a:p>
            </cx:txPr>
            <cx:visibility seriesName="0" categoryName="0" value="1"/>
            <cx:separator>, </cx:separator>
            <cx:dataLabel idx="0">
              <cx:numFmt formatCode="0,00%" sourceLinked="0"/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/>
                  </a:pPr>
                  <a:r>
                    <a:rPr lang="ru-RU" sz="1197" b="1" i="0" u="none" strike="noStrike" kern="1200" baseline="0">
                      <a:solidFill>
                        <a:schemeClr val="bg1"/>
                      </a:solidFill>
                      <a:latin typeface="Aptos" panose="02110004020202020204"/>
                    </a:rPr>
                    <a:t>10,34%</a:t>
                  </a:r>
                </a:p>
              </cx:txPr>
              <cx:separator>, </cx:separator>
            </cx:dataLabel>
          </cx:dataLabels>
          <cx:dataId val="0"/>
          <cx:layoutPr/>
        </cx:series>
      </cx:plotAreaRegion>
    </cx:plotArea>
    <cx:legend pos="t" align="ctr" overlay="0"/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0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b="0" kern="1200" cap="none" spc="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dk1">
          <a:lumMod val="15000"/>
          <a:lumOff val="85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810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8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2200" b="0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round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30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b="0" kern="1200" cap="none" spc="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dk1">
          <a:lumMod val="15000"/>
          <a:lumOff val="85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810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8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2200" b="0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round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3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197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3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197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3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197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3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197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30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b="0" kern="1200" cap="none" spc="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dk1">
          <a:lumMod val="15000"/>
          <a:lumOff val="85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810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8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2200" b="0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round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23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197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9.xml><?xml version="1.0" encoding="utf-8"?>
<cs:chartStyle xmlns:cs="http://schemas.microsoft.com/office/drawing/2012/chartStyle" xmlns:a="http://schemas.openxmlformats.org/drawingml/2006/main" id="23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197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10.xml><?xml version="1.0" encoding="utf-8"?>
<cs:chartStyle xmlns:cs="http://schemas.microsoft.com/office/drawing/2012/chartStyle" xmlns:a="http://schemas.openxmlformats.org/drawingml/2006/main" id="30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b="0" kern="1200" cap="none" spc="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dk1">
          <a:lumMod val="15000"/>
          <a:lumOff val="85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810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8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2200" b="0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round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11.xml><?xml version="1.0" encoding="utf-8"?>
<cs:chartStyle xmlns:cs="http://schemas.microsoft.com/office/drawing/2012/chartStyle" xmlns:a="http://schemas.openxmlformats.org/drawingml/2006/main" id="23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197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12.xml><?xml version="1.0" encoding="utf-8"?>
<cs:chartStyle xmlns:cs="http://schemas.microsoft.com/office/drawing/2012/chartStyle" xmlns:a="http://schemas.openxmlformats.org/drawingml/2006/main" id="23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197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13.xml><?xml version="1.0" encoding="utf-8"?>
<cs:chartStyle xmlns:cs="http://schemas.microsoft.com/office/drawing/2012/chartStyle" xmlns:a="http://schemas.openxmlformats.org/drawingml/2006/main" id="23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197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14.xml><?xml version="1.0" encoding="utf-8"?>
<cs:chartStyle xmlns:cs="http://schemas.microsoft.com/office/drawing/2012/chartStyle" xmlns:a="http://schemas.openxmlformats.org/drawingml/2006/main" id="23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197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15.xml><?xml version="1.0" encoding="utf-8"?>
<cs:chartStyle xmlns:cs="http://schemas.microsoft.com/office/drawing/2012/chartStyle" xmlns:a="http://schemas.openxmlformats.org/drawingml/2006/main" id="23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197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16.xml><?xml version="1.0" encoding="utf-8"?>
<cs:chartStyle xmlns:cs="http://schemas.microsoft.com/office/drawing/2012/chartStyle" xmlns:a="http://schemas.openxmlformats.org/drawingml/2006/main" id="23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197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17.xml><?xml version="1.0" encoding="utf-8"?>
<cs:chartStyle xmlns:cs="http://schemas.microsoft.com/office/drawing/2012/chartStyle" xmlns:a="http://schemas.openxmlformats.org/drawingml/2006/main" id="30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b="0" kern="1200" cap="none" spc="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dk1">
          <a:lumMod val="15000"/>
          <a:lumOff val="85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810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8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2200" b="0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round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18.xml><?xml version="1.0" encoding="utf-8"?>
<cs:chartStyle xmlns:cs="http://schemas.microsoft.com/office/drawing/2012/chartStyle" xmlns:a="http://schemas.openxmlformats.org/drawingml/2006/main" id="30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b="0" kern="1200" cap="none" spc="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dk1">
          <a:lumMod val="15000"/>
          <a:lumOff val="85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810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8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2200" b="0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round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19.xml><?xml version="1.0" encoding="utf-8"?>
<cs:chartStyle xmlns:cs="http://schemas.microsoft.com/office/drawing/2012/chartStyle" xmlns:a="http://schemas.openxmlformats.org/drawingml/2006/main" id="30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b="0" kern="1200" cap="none" spc="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dk1">
          <a:lumMod val="15000"/>
          <a:lumOff val="85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810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8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2200" b="0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round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0.xml><?xml version="1.0" encoding="utf-8"?>
<cs:chartStyle xmlns:cs="http://schemas.microsoft.com/office/drawing/2012/chartStyle" xmlns:a="http://schemas.openxmlformats.org/drawingml/2006/main" id="23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197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1.xml><?xml version="1.0" encoding="utf-8"?>
<cs:chartStyle xmlns:cs="http://schemas.microsoft.com/office/drawing/2012/chartStyle" xmlns:a="http://schemas.openxmlformats.org/drawingml/2006/main" id="30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b="0" kern="1200" cap="none" spc="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dk1">
          <a:lumMod val="15000"/>
          <a:lumOff val="85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810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8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2200" b="0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round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2.xml><?xml version="1.0" encoding="utf-8"?>
<cs:chartStyle xmlns:cs="http://schemas.microsoft.com/office/drawing/2012/chartStyle" xmlns:a="http://schemas.openxmlformats.org/drawingml/2006/main" id="30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b="0" kern="1200" cap="none" spc="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dk1">
          <a:lumMod val="15000"/>
          <a:lumOff val="85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810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8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2200" b="0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round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B381FE9-C609-42D7-9597-99473C001B2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C40B85AE-A9E4-4FF1-AF0D-09C910DC3CD0}">
      <dgm:prSet/>
      <dgm:spPr/>
      <dgm:t>
        <a:bodyPr/>
        <a:lstStyle/>
        <a:p>
          <a:pPr algn="ctr"/>
          <a:r>
            <a:rPr lang="ru-RU" dirty="0"/>
            <a:t>Результаты аналитики торговых точек</a:t>
          </a:r>
        </a:p>
      </dgm:t>
    </dgm:pt>
    <dgm:pt modelId="{2274F78C-B0D0-4E56-BC87-113629F34367}" type="parTrans" cxnId="{4BDC1741-D749-4F0C-8C19-AE8D0CC3B18F}">
      <dgm:prSet/>
      <dgm:spPr/>
      <dgm:t>
        <a:bodyPr/>
        <a:lstStyle/>
        <a:p>
          <a:endParaRPr lang="ru-RU"/>
        </a:p>
      </dgm:t>
    </dgm:pt>
    <dgm:pt modelId="{9FF62ED8-CEFD-41B2-A76E-491163D4CEEF}" type="sibTrans" cxnId="{4BDC1741-D749-4F0C-8C19-AE8D0CC3B18F}">
      <dgm:prSet/>
      <dgm:spPr/>
      <dgm:t>
        <a:bodyPr/>
        <a:lstStyle/>
        <a:p>
          <a:endParaRPr lang="ru-RU"/>
        </a:p>
      </dgm:t>
    </dgm:pt>
    <dgm:pt modelId="{5941EA70-E5CE-4348-BA3F-B662BDCFFBBE}" type="pres">
      <dgm:prSet presAssocID="{AB381FE9-C609-42D7-9597-99473C001B23}" presName="linear" presStyleCnt="0">
        <dgm:presLayoutVars>
          <dgm:animLvl val="lvl"/>
          <dgm:resizeHandles val="exact"/>
        </dgm:presLayoutVars>
      </dgm:prSet>
      <dgm:spPr/>
    </dgm:pt>
    <dgm:pt modelId="{1E31F7AC-C54C-4FF7-832B-136F8CBB77BA}" type="pres">
      <dgm:prSet presAssocID="{C40B85AE-A9E4-4FF1-AF0D-09C910DC3CD0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4BDC1741-D749-4F0C-8C19-AE8D0CC3B18F}" srcId="{AB381FE9-C609-42D7-9597-99473C001B23}" destId="{C40B85AE-A9E4-4FF1-AF0D-09C910DC3CD0}" srcOrd="0" destOrd="0" parTransId="{2274F78C-B0D0-4E56-BC87-113629F34367}" sibTransId="{9FF62ED8-CEFD-41B2-A76E-491163D4CEEF}"/>
    <dgm:cxn modelId="{F6DF01A8-508E-487E-8735-D2616382086C}" type="presOf" srcId="{AB381FE9-C609-42D7-9597-99473C001B23}" destId="{5941EA70-E5CE-4348-BA3F-B662BDCFFBBE}" srcOrd="0" destOrd="0" presId="urn:microsoft.com/office/officeart/2005/8/layout/vList2"/>
    <dgm:cxn modelId="{92CF5CEA-B5CF-476B-B447-C5E2B8B4463C}" type="presOf" srcId="{C40B85AE-A9E4-4FF1-AF0D-09C910DC3CD0}" destId="{1E31F7AC-C54C-4FF7-832B-136F8CBB77BA}" srcOrd="0" destOrd="0" presId="urn:microsoft.com/office/officeart/2005/8/layout/vList2"/>
    <dgm:cxn modelId="{8D0D7881-E4C1-42FA-ADA4-5D23E071A87D}" type="presParOf" srcId="{5941EA70-E5CE-4348-BA3F-B662BDCFFBBE}" destId="{1E31F7AC-C54C-4FF7-832B-136F8CBB77BA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2ED00DA-F129-4B76-8A86-59FCD6829C38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C374C706-2B4E-45AF-8D78-EFB4FFB09BB6}">
      <dgm:prSet phldrT="[Текст]" phldr="0"/>
      <dgm:spPr/>
      <dgm:t>
        <a:bodyPr/>
        <a:lstStyle/>
        <a:p>
          <a:r>
            <a:rPr lang="ru-RU" dirty="0"/>
            <a:t>1 – 4 сентября</a:t>
          </a:r>
        </a:p>
      </dgm:t>
    </dgm:pt>
    <dgm:pt modelId="{DBDA868F-EE40-49D0-8C8A-2AC594F79A10}" type="parTrans" cxnId="{674B23F7-87B2-4588-9090-2958F7B8C5B1}">
      <dgm:prSet/>
      <dgm:spPr/>
      <dgm:t>
        <a:bodyPr/>
        <a:lstStyle/>
        <a:p>
          <a:endParaRPr lang="ru-RU"/>
        </a:p>
      </dgm:t>
    </dgm:pt>
    <dgm:pt modelId="{90C1AE66-A807-4E01-81FB-CD26401C1649}" type="sibTrans" cxnId="{674B23F7-87B2-4588-9090-2958F7B8C5B1}">
      <dgm:prSet/>
      <dgm:spPr/>
      <dgm:t>
        <a:bodyPr/>
        <a:lstStyle/>
        <a:p>
          <a:endParaRPr lang="ru-RU"/>
        </a:p>
      </dgm:t>
    </dgm:pt>
    <dgm:pt modelId="{08281A57-4CCE-4EEE-839B-C32BA38CA429}">
      <dgm:prSet phldrT="[Текст]" phldr="0"/>
      <dgm:spPr/>
      <dgm:t>
        <a:bodyPr/>
        <a:lstStyle/>
        <a:p>
          <a:r>
            <a:rPr lang="ru-RU" dirty="0"/>
            <a:t>Рост количества транзакций</a:t>
          </a:r>
        </a:p>
      </dgm:t>
    </dgm:pt>
    <dgm:pt modelId="{57240895-058F-488B-BB9C-CE2397D8AE1A}" type="parTrans" cxnId="{7840777A-A9C0-472D-90C0-A89C3090D99D}">
      <dgm:prSet/>
      <dgm:spPr/>
      <dgm:t>
        <a:bodyPr/>
        <a:lstStyle/>
        <a:p>
          <a:endParaRPr lang="ru-RU"/>
        </a:p>
      </dgm:t>
    </dgm:pt>
    <dgm:pt modelId="{65D889FD-AC98-44E6-9B90-36A358AC95A4}" type="sibTrans" cxnId="{7840777A-A9C0-472D-90C0-A89C3090D99D}">
      <dgm:prSet/>
      <dgm:spPr/>
      <dgm:t>
        <a:bodyPr/>
        <a:lstStyle/>
        <a:p>
          <a:endParaRPr lang="ru-RU"/>
        </a:p>
      </dgm:t>
    </dgm:pt>
    <dgm:pt modelId="{F4233FB1-C0D1-486F-83EA-F85ABAA79982}">
      <dgm:prSet phldrT="[Текст]" phldr="0"/>
      <dgm:spPr/>
      <dgm:t>
        <a:bodyPr/>
        <a:lstStyle/>
        <a:p>
          <a:r>
            <a:rPr lang="ru-RU" dirty="0"/>
            <a:t>Перегрузка серверов</a:t>
          </a:r>
        </a:p>
      </dgm:t>
    </dgm:pt>
    <dgm:pt modelId="{B5D1CAB2-F3E5-4F37-8458-6016E4477188}" type="parTrans" cxnId="{731FE950-CB9B-4B62-A064-D35E9C9ACC36}">
      <dgm:prSet/>
      <dgm:spPr/>
      <dgm:t>
        <a:bodyPr/>
        <a:lstStyle/>
        <a:p>
          <a:endParaRPr lang="ru-RU"/>
        </a:p>
      </dgm:t>
    </dgm:pt>
    <dgm:pt modelId="{832C4A7E-C88B-485E-916A-4A3E733A11AE}" type="sibTrans" cxnId="{731FE950-CB9B-4B62-A064-D35E9C9ACC36}">
      <dgm:prSet/>
      <dgm:spPr/>
      <dgm:t>
        <a:bodyPr/>
        <a:lstStyle/>
        <a:p>
          <a:endParaRPr lang="ru-RU"/>
        </a:p>
      </dgm:t>
    </dgm:pt>
    <dgm:pt modelId="{2D896BFD-F04D-49E6-A4CD-45B54E6961AB}">
      <dgm:prSet phldrT="[Текст]" phldr="0"/>
      <dgm:spPr/>
      <dgm:t>
        <a:bodyPr/>
        <a:lstStyle/>
        <a:p>
          <a:r>
            <a:rPr lang="ru-RU" dirty="0"/>
            <a:t>5 – 6 сентября</a:t>
          </a:r>
        </a:p>
      </dgm:t>
    </dgm:pt>
    <dgm:pt modelId="{19FC9E09-FAF3-48F4-9DBF-50A0C518F834}" type="parTrans" cxnId="{F8824359-DCCC-4411-841A-A575CFD262D1}">
      <dgm:prSet/>
      <dgm:spPr/>
      <dgm:t>
        <a:bodyPr/>
        <a:lstStyle/>
        <a:p>
          <a:endParaRPr lang="ru-RU"/>
        </a:p>
      </dgm:t>
    </dgm:pt>
    <dgm:pt modelId="{DC87B73E-5772-4C38-83F5-D092519D395B}" type="sibTrans" cxnId="{F8824359-DCCC-4411-841A-A575CFD262D1}">
      <dgm:prSet/>
      <dgm:spPr/>
      <dgm:t>
        <a:bodyPr/>
        <a:lstStyle/>
        <a:p>
          <a:endParaRPr lang="ru-RU"/>
        </a:p>
      </dgm:t>
    </dgm:pt>
    <dgm:pt modelId="{D080D9D2-5580-480F-9C7C-F0BE238324F4}">
      <dgm:prSet phldrT="[Текст]" phldr="0"/>
      <dgm:spPr/>
      <dgm:t>
        <a:bodyPr/>
        <a:lstStyle/>
        <a:p>
          <a:r>
            <a:rPr lang="ru-RU" dirty="0"/>
            <a:t>Технические сбои</a:t>
          </a:r>
        </a:p>
      </dgm:t>
    </dgm:pt>
    <dgm:pt modelId="{E31F81EA-AC5A-4F48-A86B-E182827E6F05}" type="parTrans" cxnId="{33CC8804-861C-48E3-ADF8-18088C3F620A}">
      <dgm:prSet/>
      <dgm:spPr/>
      <dgm:t>
        <a:bodyPr/>
        <a:lstStyle/>
        <a:p>
          <a:endParaRPr lang="ru-RU"/>
        </a:p>
      </dgm:t>
    </dgm:pt>
    <dgm:pt modelId="{A115C0B4-1BCC-4505-A18D-C9D1D6EDDAC9}" type="sibTrans" cxnId="{33CC8804-861C-48E3-ADF8-18088C3F620A}">
      <dgm:prSet/>
      <dgm:spPr/>
      <dgm:t>
        <a:bodyPr/>
        <a:lstStyle/>
        <a:p>
          <a:endParaRPr lang="ru-RU"/>
        </a:p>
      </dgm:t>
    </dgm:pt>
    <dgm:pt modelId="{DB49C548-73C1-4719-9C15-3F77DB246514}">
      <dgm:prSet phldrT="[Текст]" phldr="0"/>
      <dgm:spPr/>
      <dgm:t>
        <a:bodyPr/>
        <a:lstStyle/>
        <a:p>
          <a:r>
            <a:rPr lang="ru-RU" dirty="0"/>
            <a:t>Акция</a:t>
          </a:r>
        </a:p>
      </dgm:t>
    </dgm:pt>
    <dgm:pt modelId="{C5D0C360-C95C-4DC7-B251-156F62B07DBB}" type="parTrans" cxnId="{D6B0448B-CD0A-4F35-9A8C-032880025B61}">
      <dgm:prSet/>
      <dgm:spPr/>
      <dgm:t>
        <a:bodyPr/>
        <a:lstStyle/>
        <a:p>
          <a:endParaRPr lang="ru-RU"/>
        </a:p>
      </dgm:t>
    </dgm:pt>
    <dgm:pt modelId="{3DE0970F-49B9-4008-8D78-DD69B3A33F6F}" type="sibTrans" cxnId="{D6B0448B-CD0A-4F35-9A8C-032880025B61}">
      <dgm:prSet/>
      <dgm:spPr/>
      <dgm:t>
        <a:bodyPr/>
        <a:lstStyle/>
        <a:p>
          <a:endParaRPr lang="ru-RU"/>
        </a:p>
      </dgm:t>
    </dgm:pt>
    <dgm:pt modelId="{8F3EB159-3DA1-4CFB-AED0-2CE492BA28B3}">
      <dgm:prSet phldrT="[Текст]" phldr="0"/>
      <dgm:spPr/>
      <dgm:t>
        <a:bodyPr/>
        <a:lstStyle/>
        <a:p>
          <a:r>
            <a:rPr lang="ru-RU" dirty="0"/>
            <a:t>Операционные инструменты</a:t>
          </a:r>
        </a:p>
      </dgm:t>
    </dgm:pt>
    <dgm:pt modelId="{12EF8BE7-2F09-4071-A829-1BC77C7758D3}" type="parTrans" cxnId="{DADB84AB-DD0D-4CA2-BDC3-AA0FB527B166}">
      <dgm:prSet/>
      <dgm:spPr/>
      <dgm:t>
        <a:bodyPr/>
        <a:lstStyle/>
        <a:p>
          <a:endParaRPr lang="ru-RU"/>
        </a:p>
      </dgm:t>
    </dgm:pt>
    <dgm:pt modelId="{CB2D1585-9F97-4E70-8FC4-0D96502BE75C}" type="sibTrans" cxnId="{DADB84AB-DD0D-4CA2-BDC3-AA0FB527B166}">
      <dgm:prSet/>
      <dgm:spPr/>
      <dgm:t>
        <a:bodyPr/>
        <a:lstStyle/>
        <a:p>
          <a:endParaRPr lang="ru-RU"/>
        </a:p>
      </dgm:t>
    </dgm:pt>
    <dgm:pt modelId="{CE959B11-EA79-4968-B8CA-B7BD7739C3F5}">
      <dgm:prSet phldrT="[Текст]" phldr="0"/>
      <dgm:spPr/>
      <dgm:t>
        <a:bodyPr/>
        <a:lstStyle/>
        <a:p>
          <a:r>
            <a:rPr lang="ru-RU" dirty="0"/>
            <a:t>Дашборд</a:t>
          </a:r>
        </a:p>
      </dgm:t>
    </dgm:pt>
    <dgm:pt modelId="{3E75CFE7-AD7D-43D2-ADD4-0169F7BA2C45}" type="parTrans" cxnId="{C3885D6E-11A4-48B9-89CF-9525B22F1093}">
      <dgm:prSet/>
      <dgm:spPr/>
      <dgm:t>
        <a:bodyPr/>
        <a:lstStyle/>
        <a:p>
          <a:endParaRPr lang="ru-RU"/>
        </a:p>
      </dgm:t>
    </dgm:pt>
    <dgm:pt modelId="{1350D199-8BD3-45A5-A0CA-2ACA7E917768}" type="sibTrans" cxnId="{C3885D6E-11A4-48B9-89CF-9525B22F1093}">
      <dgm:prSet/>
      <dgm:spPr/>
      <dgm:t>
        <a:bodyPr/>
        <a:lstStyle/>
        <a:p>
          <a:endParaRPr lang="ru-RU"/>
        </a:p>
      </dgm:t>
    </dgm:pt>
    <dgm:pt modelId="{0D635600-67EC-40C3-95B5-5D5A3CED2FA3}">
      <dgm:prSet phldrT="[Текст]" phldr="0"/>
      <dgm:spPr/>
      <dgm:t>
        <a:bodyPr/>
        <a:lstStyle/>
        <a:p>
          <a:r>
            <a:rPr lang="ru-RU" dirty="0"/>
            <a:t>Калькулятор издержек</a:t>
          </a:r>
        </a:p>
      </dgm:t>
    </dgm:pt>
    <dgm:pt modelId="{8723EF4F-2453-43B7-B010-B91D42980D3F}" type="parTrans" cxnId="{E0245973-02D0-47A1-88A9-360FC26212FB}">
      <dgm:prSet/>
      <dgm:spPr/>
      <dgm:t>
        <a:bodyPr/>
        <a:lstStyle/>
        <a:p>
          <a:endParaRPr lang="ru-RU"/>
        </a:p>
      </dgm:t>
    </dgm:pt>
    <dgm:pt modelId="{70EF925A-F439-4EDC-8443-38156956EF1E}" type="sibTrans" cxnId="{E0245973-02D0-47A1-88A9-360FC26212FB}">
      <dgm:prSet/>
      <dgm:spPr/>
      <dgm:t>
        <a:bodyPr/>
        <a:lstStyle/>
        <a:p>
          <a:endParaRPr lang="ru-RU"/>
        </a:p>
      </dgm:t>
    </dgm:pt>
    <dgm:pt modelId="{068510E8-8220-4BFD-8AB3-114C6658CA0B}">
      <dgm:prSet phldrT="[Текст]" phldr="0"/>
      <dgm:spPr/>
      <dgm:t>
        <a:bodyPr/>
        <a:lstStyle/>
        <a:p>
          <a:r>
            <a:rPr lang="ru-RU" dirty="0"/>
            <a:t>Эффективность касс самообслуживания</a:t>
          </a:r>
        </a:p>
      </dgm:t>
    </dgm:pt>
    <dgm:pt modelId="{912A7812-275A-41F7-9973-E66E2AA2F592}" type="parTrans" cxnId="{5FAA8FBC-FCAA-49C0-AD9A-A4C9E0354AE3}">
      <dgm:prSet/>
      <dgm:spPr/>
      <dgm:t>
        <a:bodyPr/>
        <a:lstStyle/>
        <a:p>
          <a:endParaRPr lang="ru-RU"/>
        </a:p>
      </dgm:t>
    </dgm:pt>
    <dgm:pt modelId="{6E0B6225-74A7-406A-B7E3-16BB67CEB648}" type="sibTrans" cxnId="{5FAA8FBC-FCAA-49C0-AD9A-A4C9E0354AE3}">
      <dgm:prSet/>
      <dgm:spPr/>
      <dgm:t>
        <a:bodyPr/>
        <a:lstStyle/>
        <a:p>
          <a:endParaRPr lang="ru-RU"/>
        </a:p>
      </dgm:t>
    </dgm:pt>
    <dgm:pt modelId="{0CC67DDB-D8BC-4CB5-A808-889582B33C8A}">
      <dgm:prSet phldrT="[Текст]" phldr="0"/>
      <dgm:spPr/>
      <dgm:t>
        <a:bodyPr/>
        <a:lstStyle/>
        <a:p>
          <a:r>
            <a:rPr lang="ru-RU" dirty="0"/>
            <a:t>Анализ 1-го дня</a:t>
          </a:r>
        </a:p>
      </dgm:t>
    </dgm:pt>
    <dgm:pt modelId="{31035092-4F70-45EC-BA6B-97DFBA4D459A}" type="parTrans" cxnId="{30E8B53C-7D6E-4D85-8DA4-5C58177EA47A}">
      <dgm:prSet/>
      <dgm:spPr/>
      <dgm:t>
        <a:bodyPr/>
        <a:lstStyle/>
        <a:p>
          <a:endParaRPr lang="ru-RU"/>
        </a:p>
      </dgm:t>
    </dgm:pt>
    <dgm:pt modelId="{C599B549-DFDD-49F9-8847-E8BE8642B87F}" type="sibTrans" cxnId="{30E8B53C-7D6E-4D85-8DA4-5C58177EA47A}">
      <dgm:prSet/>
      <dgm:spPr/>
      <dgm:t>
        <a:bodyPr/>
        <a:lstStyle/>
        <a:p>
          <a:endParaRPr lang="ru-RU"/>
        </a:p>
      </dgm:t>
    </dgm:pt>
    <dgm:pt modelId="{7A3F3E97-4A56-4F49-BF34-B61BA9C26C9F}">
      <dgm:prSet phldrT="[Текст]" phldr="0"/>
      <dgm:spPr/>
      <dgm:t>
        <a:bodyPr/>
        <a:lstStyle/>
        <a:p>
          <a:r>
            <a:rPr lang="ru-RU" dirty="0"/>
            <a:t>Система лояльности</a:t>
          </a:r>
        </a:p>
      </dgm:t>
    </dgm:pt>
    <dgm:pt modelId="{F3598AEF-664C-4B7E-8E6A-1F5D238F16FB}" type="parTrans" cxnId="{4E4F8789-4F55-4640-8EC9-0F51105F4AA1}">
      <dgm:prSet/>
      <dgm:spPr/>
      <dgm:t>
        <a:bodyPr/>
        <a:lstStyle/>
        <a:p>
          <a:endParaRPr lang="ru-RU"/>
        </a:p>
      </dgm:t>
    </dgm:pt>
    <dgm:pt modelId="{6C565EBE-D418-4592-857B-6470F840AF09}" type="sibTrans" cxnId="{4E4F8789-4F55-4640-8EC9-0F51105F4AA1}">
      <dgm:prSet/>
      <dgm:spPr/>
      <dgm:t>
        <a:bodyPr/>
        <a:lstStyle/>
        <a:p>
          <a:endParaRPr lang="ru-RU"/>
        </a:p>
      </dgm:t>
    </dgm:pt>
    <dgm:pt modelId="{A44E3767-12E2-4E05-9DE9-18C55E499F9D}" type="pres">
      <dgm:prSet presAssocID="{92ED00DA-F129-4B76-8A86-59FCD6829C38}" presName="Name0" presStyleCnt="0">
        <dgm:presLayoutVars>
          <dgm:dir/>
          <dgm:animLvl val="lvl"/>
          <dgm:resizeHandles val="exact"/>
        </dgm:presLayoutVars>
      </dgm:prSet>
      <dgm:spPr/>
    </dgm:pt>
    <dgm:pt modelId="{92C7100B-DCDE-4B9E-A4E3-426DC4F22364}" type="pres">
      <dgm:prSet presAssocID="{C374C706-2B4E-45AF-8D78-EFB4FFB09BB6}" presName="linNode" presStyleCnt="0"/>
      <dgm:spPr/>
    </dgm:pt>
    <dgm:pt modelId="{48337AA0-98C2-4C74-814F-7F60D15BD446}" type="pres">
      <dgm:prSet presAssocID="{C374C706-2B4E-45AF-8D78-EFB4FFB09BB6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F94A74C0-4391-4D4A-9FC7-E183C2B1698A}" type="pres">
      <dgm:prSet presAssocID="{C374C706-2B4E-45AF-8D78-EFB4FFB09BB6}" presName="descendantText" presStyleLbl="alignAccFollowNode1" presStyleIdx="0" presStyleCnt="3">
        <dgm:presLayoutVars>
          <dgm:bulletEnabled val="1"/>
        </dgm:presLayoutVars>
      </dgm:prSet>
      <dgm:spPr/>
    </dgm:pt>
    <dgm:pt modelId="{268E8C8E-D553-476A-8477-20CA42499FAB}" type="pres">
      <dgm:prSet presAssocID="{90C1AE66-A807-4E01-81FB-CD26401C1649}" presName="sp" presStyleCnt="0"/>
      <dgm:spPr/>
    </dgm:pt>
    <dgm:pt modelId="{DA2264C0-F10D-47E8-96E5-51B5AE9CDBEB}" type="pres">
      <dgm:prSet presAssocID="{2D896BFD-F04D-49E6-A4CD-45B54E6961AB}" presName="linNode" presStyleCnt="0"/>
      <dgm:spPr/>
    </dgm:pt>
    <dgm:pt modelId="{7BF6D77B-9B46-4501-BD6A-BA987A96E7A9}" type="pres">
      <dgm:prSet presAssocID="{2D896BFD-F04D-49E6-A4CD-45B54E6961AB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00600D11-D65F-466C-AF86-B4929D842091}" type="pres">
      <dgm:prSet presAssocID="{2D896BFD-F04D-49E6-A4CD-45B54E6961AB}" presName="descendantText" presStyleLbl="alignAccFollowNode1" presStyleIdx="1" presStyleCnt="3">
        <dgm:presLayoutVars>
          <dgm:bulletEnabled val="1"/>
        </dgm:presLayoutVars>
      </dgm:prSet>
      <dgm:spPr/>
    </dgm:pt>
    <dgm:pt modelId="{54F0AB86-B20C-4CEF-954F-E7BC8000CD46}" type="pres">
      <dgm:prSet presAssocID="{DC87B73E-5772-4C38-83F5-D092519D395B}" presName="sp" presStyleCnt="0"/>
      <dgm:spPr/>
    </dgm:pt>
    <dgm:pt modelId="{E2A8BDE3-958A-43FE-9081-236FEEA55EEB}" type="pres">
      <dgm:prSet presAssocID="{8F3EB159-3DA1-4CFB-AED0-2CE492BA28B3}" presName="linNode" presStyleCnt="0"/>
      <dgm:spPr/>
    </dgm:pt>
    <dgm:pt modelId="{853891B6-A98A-4BEC-9256-94B176AA2E5C}" type="pres">
      <dgm:prSet presAssocID="{8F3EB159-3DA1-4CFB-AED0-2CE492BA28B3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E6D1A146-1C63-4A17-A7AC-B875D72CB3AB}" type="pres">
      <dgm:prSet presAssocID="{8F3EB159-3DA1-4CFB-AED0-2CE492BA28B3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33CC8804-861C-48E3-ADF8-18088C3F620A}" srcId="{2D896BFD-F04D-49E6-A4CD-45B54E6961AB}" destId="{D080D9D2-5580-480F-9C7C-F0BE238324F4}" srcOrd="0" destOrd="0" parTransId="{E31F81EA-AC5A-4F48-A86B-E182827E6F05}" sibTransId="{A115C0B4-1BCC-4505-A18D-C9D1D6EDDAC9}"/>
    <dgm:cxn modelId="{7356B90C-489D-47D1-B920-DC82595A316D}" type="presOf" srcId="{8F3EB159-3DA1-4CFB-AED0-2CE492BA28B3}" destId="{853891B6-A98A-4BEC-9256-94B176AA2E5C}" srcOrd="0" destOrd="0" presId="urn:microsoft.com/office/officeart/2005/8/layout/vList5"/>
    <dgm:cxn modelId="{30E8B53C-7D6E-4D85-8DA4-5C58177EA47A}" srcId="{C374C706-2B4E-45AF-8D78-EFB4FFB09BB6}" destId="{0CC67DDB-D8BC-4CB5-A808-889582B33C8A}" srcOrd="3" destOrd="0" parTransId="{31035092-4F70-45EC-BA6B-97DFBA4D459A}" sibTransId="{C599B549-DFDD-49F9-8847-E8BE8642B87F}"/>
    <dgm:cxn modelId="{61C2F33E-5DF7-4318-BBEE-03EDFA3F0EBF}" type="presOf" srcId="{7A3F3E97-4A56-4F49-BF34-B61BA9C26C9F}" destId="{00600D11-D65F-466C-AF86-B4929D842091}" srcOrd="0" destOrd="2" presId="urn:microsoft.com/office/officeart/2005/8/layout/vList5"/>
    <dgm:cxn modelId="{CD85BC42-EDEB-4AA3-94A9-0B547F3C4E35}" type="presOf" srcId="{F4233FB1-C0D1-486F-83EA-F85ABAA79982}" destId="{F94A74C0-4391-4D4A-9FC7-E183C2B1698A}" srcOrd="0" destOrd="1" presId="urn:microsoft.com/office/officeart/2005/8/layout/vList5"/>
    <dgm:cxn modelId="{C3885D6E-11A4-48B9-89CF-9525B22F1093}" srcId="{8F3EB159-3DA1-4CFB-AED0-2CE492BA28B3}" destId="{CE959B11-EA79-4968-B8CA-B7BD7739C3F5}" srcOrd="0" destOrd="0" parTransId="{3E75CFE7-AD7D-43D2-ADD4-0169F7BA2C45}" sibTransId="{1350D199-8BD3-45A5-A0CA-2ACA7E917768}"/>
    <dgm:cxn modelId="{731FE950-CB9B-4B62-A064-D35E9C9ACC36}" srcId="{C374C706-2B4E-45AF-8D78-EFB4FFB09BB6}" destId="{F4233FB1-C0D1-486F-83EA-F85ABAA79982}" srcOrd="1" destOrd="0" parTransId="{B5D1CAB2-F3E5-4F37-8458-6016E4477188}" sibTransId="{832C4A7E-C88B-485E-916A-4A3E733A11AE}"/>
    <dgm:cxn modelId="{E0245973-02D0-47A1-88A9-360FC26212FB}" srcId="{8F3EB159-3DA1-4CFB-AED0-2CE492BA28B3}" destId="{0D635600-67EC-40C3-95B5-5D5A3CED2FA3}" srcOrd="1" destOrd="0" parTransId="{8723EF4F-2453-43B7-B010-B91D42980D3F}" sibTransId="{70EF925A-F439-4EDC-8443-38156956EF1E}"/>
    <dgm:cxn modelId="{F8824359-DCCC-4411-841A-A575CFD262D1}" srcId="{92ED00DA-F129-4B76-8A86-59FCD6829C38}" destId="{2D896BFD-F04D-49E6-A4CD-45B54E6961AB}" srcOrd="1" destOrd="0" parTransId="{19FC9E09-FAF3-48F4-9DBF-50A0C518F834}" sibTransId="{DC87B73E-5772-4C38-83F5-D092519D395B}"/>
    <dgm:cxn modelId="{7840777A-A9C0-472D-90C0-A89C3090D99D}" srcId="{C374C706-2B4E-45AF-8D78-EFB4FFB09BB6}" destId="{08281A57-4CCE-4EEE-839B-C32BA38CA429}" srcOrd="0" destOrd="0" parTransId="{57240895-058F-488B-BB9C-CE2397D8AE1A}" sibTransId="{65D889FD-AC98-44E6-9B90-36A358AC95A4}"/>
    <dgm:cxn modelId="{4E4F8789-4F55-4640-8EC9-0F51105F4AA1}" srcId="{2D896BFD-F04D-49E6-A4CD-45B54E6961AB}" destId="{7A3F3E97-4A56-4F49-BF34-B61BA9C26C9F}" srcOrd="2" destOrd="0" parTransId="{F3598AEF-664C-4B7E-8E6A-1F5D238F16FB}" sibTransId="{6C565EBE-D418-4592-857B-6470F840AF09}"/>
    <dgm:cxn modelId="{D6B0448B-CD0A-4F35-9A8C-032880025B61}" srcId="{2D896BFD-F04D-49E6-A4CD-45B54E6961AB}" destId="{DB49C548-73C1-4719-9C15-3F77DB246514}" srcOrd="1" destOrd="0" parTransId="{C5D0C360-C95C-4DC7-B251-156F62B07DBB}" sibTransId="{3DE0970F-49B9-4008-8D78-DD69B3A33F6F}"/>
    <dgm:cxn modelId="{1687209A-A24C-4807-8A39-9BAB306AABBD}" type="presOf" srcId="{DB49C548-73C1-4719-9C15-3F77DB246514}" destId="{00600D11-D65F-466C-AF86-B4929D842091}" srcOrd="0" destOrd="1" presId="urn:microsoft.com/office/officeart/2005/8/layout/vList5"/>
    <dgm:cxn modelId="{DADB84AB-DD0D-4CA2-BDC3-AA0FB527B166}" srcId="{92ED00DA-F129-4B76-8A86-59FCD6829C38}" destId="{8F3EB159-3DA1-4CFB-AED0-2CE492BA28B3}" srcOrd="2" destOrd="0" parTransId="{12EF8BE7-2F09-4071-A829-1BC77C7758D3}" sibTransId="{CB2D1585-9F97-4E70-8FC4-0D96502BE75C}"/>
    <dgm:cxn modelId="{213A43B1-969C-4C02-9C47-A5A1DE4A438C}" type="presOf" srcId="{CE959B11-EA79-4968-B8CA-B7BD7739C3F5}" destId="{E6D1A146-1C63-4A17-A7AC-B875D72CB3AB}" srcOrd="0" destOrd="0" presId="urn:microsoft.com/office/officeart/2005/8/layout/vList5"/>
    <dgm:cxn modelId="{CB75C9B1-FAC1-4236-BC00-3D166E1A7878}" type="presOf" srcId="{92ED00DA-F129-4B76-8A86-59FCD6829C38}" destId="{A44E3767-12E2-4E05-9DE9-18C55E499F9D}" srcOrd="0" destOrd="0" presId="urn:microsoft.com/office/officeart/2005/8/layout/vList5"/>
    <dgm:cxn modelId="{E38172B4-A0A0-4201-BCCF-9F9B8082E735}" type="presOf" srcId="{2D896BFD-F04D-49E6-A4CD-45B54E6961AB}" destId="{7BF6D77B-9B46-4501-BD6A-BA987A96E7A9}" srcOrd="0" destOrd="0" presId="urn:microsoft.com/office/officeart/2005/8/layout/vList5"/>
    <dgm:cxn modelId="{5FAA8FBC-FCAA-49C0-AD9A-A4C9E0354AE3}" srcId="{C374C706-2B4E-45AF-8D78-EFB4FFB09BB6}" destId="{068510E8-8220-4BFD-8AB3-114C6658CA0B}" srcOrd="2" destOrd="0" parTransId="{912A7812-275A-41F7-9973-E66E2AA2F592}" sibTransId="{6E0B6225-74A7-406A-B7E3-16BB67CEB648}"/>
    <dgm:cxn modelId="{498D6CD1-9A96-42D9-A691-83C97AB41B0B}" type="presOf" srcId="{0D635600-67EC-40C3-95B5-5D5A3CED2FA3}" destId="{E6D1A146-1C63-4A17-A7AC-B875D72CB3AB}" srcOrd="0" destOrd="1" presId="urn:microsoft.com/office/officeart/2005/8/layout/vList5"/>
    <dgm:cxn modelId="{F9BA7BDF-40CE-4524-A4BD-32622D048111}" type="presOf" srcId="{0CC67DDB-D8BC-4CB5-A808-889582B33C8A}" destId="{F94A74C0-4391-4D4A-9FC7-E183C2B1698A}" srcOrd="0" destOrd="3" presId="urn:microsoft.com/office/officeart/2005/8/layout/vList5"/>
    <dgm:cxn modelId="{C5F9FCE9-79CB-4E5A-A778-B8ECED9C9934}" type="presOf" srcId="{068510E8-8220-4BFD-8AB3-114C6658CA0B}" destId="{F94A74C0-4391-4D4A-9FC7-E183C2B1698A}" srcOrd="0" destOrd="2" presId="urn:microsoft.com/office/officeart/2005/8/layout/vList5"/>
    <dgm:cxn modelId="{63F8D8EE-8D95-46A5-B072-6135177D1F5B}" type="presOf" srcId="{08281A57-4CCE-4EEE-839B-C32BA38CA429}" destId="{F94A74C0-4391-4D4A-9FC7-E183C2B1698A}" srcOrd="0" destOrd="0" presId="urn:microsoft.com/office/officeart/2005/8/layout/vList5"/>
    <dgm:cxn modelId="{674B23F7-87B2-4588-9090-2958F7B8C5B1}" srcId="{92ED00DA-F129-4B76-8A86-59FCD6829C38}" destId="{C374C706-2B4E-45AF-8D78-EFB4FFB09BB6}" srcOrd="0" destOrd="0" parTransId="{DBDA868F-EE40-49D0-8C8A-2AC594F79A10}" sibTransId="{90C1AE66-A807-4E01-81FB-CD26401C1649}"/>
    <dgm:cxn modelId="{D0221FF9-9061-4B2B-8A45-33B724F241F1}" type="presOf" srcId="{C374C706-2B4E-45AF-8D78-EFB4FFB09BB6}" destId="{48337AA0-98C2-4C74-814F-7F60D15BD446}" srcOrd="0" destOrd="0" presId="urn:microsoft.com/office/officeart/2005/8/layout/vList5"/>
    <dgm:cxn modelId="{7E8604FB-963F-4EA9-A45F-FB0DDC0AD96D}" type="presOf" srcId="{D080D9D2-5580-480F-9C7C-F0BE238324F4}" destId="{00600D11-D65F-466C-AF86-B4929D842091}" srcOrd="0" destOrd="0" presId="urn:microsoft.com/office/officeart/2005/8/layout/vList5"/>
    <dgm:cxn modelId="{978F3930-5631-4A85-96AD-44CFE0E73F44}" type="presParOf" srcId="{A44E3767-12E2-4E05-9DE9-18C55E499F9D}" destId="{92C7100B-DCDE-4B9E-A4E3-426DC4F22364}" srcOrd="0" destOrd="0" presId="urn:microsoft.com/office/officeart/2005/8/layout/vList5"/>
    <dgm:cxn modelId="{09A7EFA8-3B4B-49FC-A03B-13A988C40188}" type="presParOf" srcId="{92C7100B-DCDE-4B9E-A4E3-426DC4F22364}" destId="{48337AA0-98C2-4C74-814F-7F60D15BD446}" srcOrd="0" destOrd="0" presId="urn:microsoft.com/office/officeart/2005/8/layout/vList5"/>
    <dgm:cxn modelId="{886E60BE-8448-4D1C-9373-2B94121771A3}" type="presParOf" srcId="{92C7100B-DCDE-4B9E-A4E3-426DC4F22364}" destId="{F94A74C0-4391-4D4A-9FC7-E183C2B1698A}" srcOrd="1" destOrd="0" presId="urn:microsoft.com/office/officeart/2005/8/layout/vList5"/>
    <dgm:cxn modelId="{18D19F22-3020-4312-840B-7D4EE1DE7345}" type="presParOf" srcId="{A44E3767-12E2-4E05-9DE9-18C55E499F9D}" destId="{268E8C8E-D553-476A-8477-20CA42499FAB}" srcOrd="1" destOrd="0" presId="urn:microsoft.com/office/officeart/2005/8/layout/vList5"/>
    <dgm:cxn modelId="{459B0BFE-C37D-4D43-BC57-07861FBF8083}" type="presParOf" srcId="{A44E3767-12E2-4E05-9DE9-18C55E499F9D}" destId="{DA2264C0-F10D-47E8-96E5-51B5AE9CDBEB}" srcOrd="2" destOrd="0" presId="urn:microsoft.com/office/officeart/2005/8/layout/vList5"/>
    <dgm:cxn modelId="{0E98C6A8-5AB4-4270-AFA4-3DE8A4F9A63B}" type="presParOf" srcId="{DA2264C0-F10D-47E8-96E5-51B5AE9CDBEB}" destId="{7BF6D77B-9B46-4501-BD6A-BA987A96E7A9}" srcOrd="0" destOrd="0" presId="urn:microsoft.com/office/officeart/2005/8/layout/vList5"/>
    <dgm:cxn modelId="{2585801A-78BF-4D8B-BD69-32715CED3FB9}" type="presParOf" srcId="{DA2264C0-F10D-47E8-96E5-51B5AE9CDBEB}" destId="{00600D11-D65F-466C-AF86-B4929D842091}" srcOrd="1" destOrd="0" presId="urn:microsoft.com/office/officeart/2005/8/layout/vList5"/>
    <dgm:cxn modelId="{E11A59BE-62D4-481D-8132-252742BFC8EF}" type="presParOf" srcId="{A44E3767-12E2-4E05-9DE9-18C55E499F9D}" destId="{54F0AB86-B20C-4CEF-954F-E7BC8000CD46}" srcOrd="3" destOrd="0" presId="urn:microsoft.com/office/officeart/2005/8/layout/vList5"/>
    <dgm:cxn modelId="{5C4E81E9-AFF3-49ED-9F41-31C6A6E43BE1}" type="presParOf" srcId="{A44E3767-12E2-4E05-9DE9-18C55E499F9D}" destId="{E2A8BDE3-958A-43FE-9081-236FEEA55EEB}" srcOrd="4" destOrd="0" presId="urn:microsoft.com/office/officeart/2005/8/layout/vList5"/>
    <dgm:cxn modelId="{B115D697-7B36-4692-A342-B86D9B2D9B11}" type="presParOf" srcId="{E2A8BDE3-958A-43FE-9081-236FEEA55EEB}" destId="{853891B6-A98A-4BEC-9256-94B176AA2E5C}" srcOrd="0" destOrd="0" presId="urn:microsoft.com/office/officeart/2005/8/layout/vList5"/>
    <dgm:cxn modelId="{BC42EE21-DE66-4545-9024-646706D0980A}" type="presParOf" srcId="{E2A8BDE3-958A-43FE-9081-236FEEA55EEB}" destId="{E6D1A146-1C63-4A17-A7AC-B875D72CB3AB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31F7AC-C54C-4FF7-832B-136F8CBB77BA}">
      <dsp:nvSpPr>
        <dsp:cNvPr id="0" name=""/>
        <dsp:cNvSpPr/>
      </dsp:nvSpPr>
      <dsp:spPr>
        <a:xfrm>
          <a:off x="0" y="117778"/>
          <a:ext cx="9245601" cy="98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000" kern="1200" dirty="0"/>
            <a:t>Результаты аналитики торговых точек</a:t>
          </a:r>
        </a:p>
      </dsp:txBody>
      <dsp:txXfrm>
        <a:off x="47976" y="165754"/>
        <a:ext cx="9149649" cy="88684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4A74C0-4391-4D4A-9FC7-E183C2B1698A}">
      <dsp:nvSpPr>
        <dsp:cNvPr id="0" name=""/>
        <dsp:cNvSpPr/>
      </dsp:nvSpPr>
      <dsp:spPr>
        <a:xfrm rot="5400000">
          <a:off x="3323014" y="-1170646"/>
          <a:ext cx="1003895" cy="359996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300" kern="1200" dirty="0"/>
            <a:t>Рост количества транзакций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300" kern="1200" dirty="0"/>
            <a:t>Перегрузка серверов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300" kern="1200" dirty="0"/>
            <a:t>Эффективность касс самообслуживания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300" kern="1200" dirty="0"/>
            <a:t>Анализ 1-го дня</a:t>
          </a:r>
        </a:p>
      </dsp:txBody>
      <dsp:txXfrm rot="-5400000">
        <a:off x="2024980" y="176394"/>
        <a:ext cx="3550958" cy="905883"/>
      </dsp:txXfrm>
    </dsp:sp>
    <dsp:sp modelId="{48337AA0-98C2-4C74-814F-7F60D15BD446}">
      <dsp:nvSpPr>
        <dsp:cNvPr id="0" name=""/>
        <dsp:cNvSpPr/>
      </dsp:nvSpPr>
      <dsp:spPr>
        <a:xfrm>
          <a:off x="0" y="1901"/>
          <a:ext cx="2024980" cy="125486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 dirty="0"/>
            <a:t>1 – 4 сентября</a:t>
          </a:r>
        </a:p>
      </dsp:txBody>
      <dsp:txXfrm>
        <a:off x="61258" y="63159"/>
        <a:ext cx="1902464" cy="1132353"/>
      </dsp:txXfrm>
    </dsp:sp>
    <dsp:sp modelId="{00600D11-D65F-466C-AF86-B4929D842091}">
      <dsp:nvSpPr>
        <dsp:cNvPr id="0" name=""/>
        <dsp:cNvSpPr/>
      </dsp:nvSpPr>
      <dsp:spPr>
        <a:xfrm rot="5400000">
          <a:off x="3323014" y="146966"/>
          <a:ext cx="1003895" cy="359996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300" kern="1200" dirty="0"/>
            <a:t>Технические сбои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300" kern="1200" dirty="0"/>
            <a:t>Акция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300" kern="1200" dirty="0"/>
            <a:t>Система лояльности</a:t>
          </a:r>
        </a:p>
      </dsp:txBody>
      <dsp:txXfrm rot="-5400000">
        <a:off x="2024980" y="1494006"/>
        <a:ext cx="3550958" cy="905883"/>
      </dsp:txXfrm>
    </dsp:sp>
    <dsp:sp modelId="{7BF6D77B-9B46-4501-BD6A-BA987A96E7A9}">
      <dsp:nvSpPr>
        <dsp:cNvPr id="0" name=""/>
        <dsp:cNvSpPr/>
      </dsp:nvSpPr>
      <dsp:spPr>
        <a:xfrm>
          <a:off x="0" y="1319513"/>
          <a:ext cx="2024980" cy="125486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 dirty="0"/>
            <a:t>5 – 6 сентября</a:t>
          </a:r>
        </a:p>
      </dsp:txBody>
      <dsp:txXfrm>
        <a:off x="61258" y="1380771"/>
        <a:ext cx="1902464" cy="1132353"/>
      </dsp:txXfrm>
    </dsp:sp>
    <dsp:sp modelId="{E6D1A146-1C63-4A17-A7AC-B875D72CB3AB}">
      <dsp:nvSpPr>
        <dsp:cNvPr id="0" name=""/>
        <dsp:cNvSpPr/>
      </dsp:nvSpPr>
      <dsp:spPr>
        <a:xfrm rot="5400000">
          <a:off x="3323014" y="1464578"/>
          <a:ext cx="1003895" cy="359996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300" kern="1200" dirty="0"/>
            <a:t>Дашборд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300" kern="1200" dirty="0"/>
            <a:t>Калькулятор издержек</a:t>
          </a:r>
        </a:p>
      </dsp:txBody>
      <dsp:txXfrm rot="-5400000">
        <a:off x="2024980" y="2811618"/>
        <a:ext cx="3550958" cy="905883"/>
      </dsp:txXfrm>
    </dsp:sp>
    <dsp:sp modelId="{853891B6-A98A-4BEC-9256-94B176AA2E5C}">
      <dsp:nvSpPr>
        <dsp:cNvPr id="0" name=""/>
        <dsp:cNvSpPr/>
      </dsp:nvSpPr>
      <dsp:spPr>
        <a:xfrm>
          <a:off x="0" y="2637126"/>
          <a:ext cx="2024980" cy="125486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 dirty="0"/>
            <a:t>Операционные инструменты</a:t>
          </a:r>
        </a:p>
      </dsp:txBody>
      <dsp:txXfrm>
        <a:off x="61258" y="2698384"/>
        <a:ext cx="1902464" cy="113235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9E7C38-7FF2-4B4E-8A3A-67CD2F390C7D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54F24F-E4B3-4244-A7B7-A32A5F7F02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0463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54F24F-E4B3-4244-A7B7-A32A5F7F028F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79982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D1C3E2-F870-2044-CA3E-A4B16606CC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C5B7367-6914-FF37-2A79-2D8B80FDFB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2DEBD06-7E1E-22B7-2CFE-850698D39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627DB-B340-490C-B09C-8AE2C6D340DF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5B1FE9D-7D92-F7FB-2475-6E2BA4066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2543CBE-7E1F-BBB8-7386-9FFDE4533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E2AD5-8904-47AC-8B22-B37606D3710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9626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72AB6F-246D-86C1-8DCF-A9983F1F5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60AF88-400F-4B34-133D-00BC21FF4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A9C70CB-C005-0411-1467-A8350665B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627DB-B340-490C-B09C-8AE2C6D340DF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9C88E7B-1E6F-2600-A8B6-5DAFE9386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EF7014E-B844-62E2-3EFA-7F0D41BF9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E2AD5-8904-47AC-8B22-B37606D3710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576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DD0131-0B67-CBBF-1134-670DD4CA9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3252CE1-0DF1-9E6F-894E-D6959A4F58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9E555A9-66DC-3D10-BD59-CBB9453C3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627DB-B340-490C-B09C-8AE2C6D340DF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77E40A3-64E6-5D4F-30E2-70F24114B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D72AE56-658D-ECB4-3E0F-BC54E6334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E2AD5-8904-47AC-8B22-B37606D3710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5338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32D64B-DD49-85B9-6754-CA0982786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A3C2814-F861-5F19-E8FB-09D66A50D8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76D506B-D9DF-042D-CAE5-ADD10869FC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7AB7C11-6AC0-D327-601A-1BE215E92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627DB-B340-490C-B09C-8AE2C6D340DF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0D7495C-4ACF-4F6D-99B7-F35358416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0CB5A8D-B31B-DDFC-9B5C-7D3036D49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E2AD5-8904-47AC-8B22-B37606D3710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5796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0D29D3-BBED-DBFB-9CF7-5C7D62FFC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8E308FA-2A6C-AB00-8F98-FE34ED11A3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90678FA-BAA6-7300-8CD2-8CE02FF3BF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54333D9-1DDE-DAF5-BF7F-04D44D2C53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4DABB65-D3BA-A7DD-F90A-FE39342D06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ECCCE7C-D0B2-142E-0077-3848C7327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627DB-B340-490C-B09C-8AE2C6D340DF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12B4E1D-BEF3-F52C-F9FD-3E5E95520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B5EDB44-4703-364D-B052-9DED265B7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E2AD5-8904-47AC-8B22-B37606D3710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6785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827354-358F-37A8-ECAA-9CA86E4AE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0115E5B-5D0E-7F25-7275-40446BC8C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627DB-B340-490C-B09C-8AE2C6D340DF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CB16862-0A55-74C5-BCF9-1942A6F4C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A278A28-AE31-AAC2-4323-D4E4326EF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E2AD5-8904-47AC-8B22-B37606D3710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7896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6BA8CCA-EC08-2313-E96C-E5ACD0362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627DB-B340-490C-B09C-8AE2C6D340DF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1A09650-C0FD-4FA1-61A9-12FCE0564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803829F-A046-20E9-7A9D-0899D669C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E2AD5-8904-47AC-8B22-B37606D3710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6714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5A6535-44A9-657F-6B9A-B351F09E7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401472B-8C34-D45E-92B7-5C2B979781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1A6D055-C333-4E0F-7AE2-BFEB2A4C12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0E9FFCB-C6CA-E230-9783-B1DB89F5A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627DB-B340-490C-B09C-8AE2C6D340DF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02BE32C-C13F-E170-BC0D-D1E8903CA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A070004-395F-D1AC-83DE-15C3549F8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E2AD5-8904-47AC-8B22-B37606D3710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3878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FB7277-C8F3-697F-209A-DBFAE21DD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5857336-2861-7341-802E-1B5A28CD59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72FFA5B-B837-EB12-66D0-09ABBD0121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F6326D1-20D8-3FB4-F1E0-3683627C8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627DB-B340-490C-B09C-8AE2C6D340DF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ED56169-A74A-E329-3D96-721A678D9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A1648AE-46E6-784B-268B-E68C0FDFB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E2AD5-8904-47AC-8B22-B37606D3710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2176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F07B2B-97AF-C30F-379D-32EF82927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C2029C4-C39B-BC5C-C21F-308BB1894A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9A5ACF8-7AE6-25F8-0F17-7F654C607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627DB-B340-490C-B09C-8AE2C6D340DF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2F3BBC4-72DD-CE5F-78E0-B9C2008BB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68F8DA2-C1DE-19DE-1691-5000BE4C4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E2AD5-8904-47AC-8B22-B37606D3710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74543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35F2CE8-6DA7-DE8F-B13B-1AB76053A6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8E24DF0-24CC-A404-4795-AC47BAF2EB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0ABEA2B-F1F8-C235-3F4E-5A8FED4B6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627DB-B340-490C-B09C-8AE2C6D340DF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5BA0D38-5003-3F7C-B840-E5163F884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5AC4864-092B-6112-BE45-BD33FC830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E2AD5-8904-47AC-8B22-B37606D3710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1128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B4A013-0B68-4268-115D-130DE9668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AEF85E2-EB84-C9DC-1877-4E209D8EF5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0D87A13-7363-B0F7-87A2-540AF4D03B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0627DB-B340-490C-B09C-8AE2C6D340DF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F37BF92-D6EA-8562-8D06-5CBC670F5C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D803C9D-4800-3C2F-4A45-07FCCBA749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FE2AD5-8904-47AC-8B22-B37606D3710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7560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6.xml"/><Relationship Id="rId2" Type="http://schemas.openxmlformats.org/officeDocument/2006/relationships/chart" Target="../charts/chart15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8.xml"/><Relationship Id="rId2" Type="http://schemas.openxmlformats.org/officeDocument/2006/relationships/chart" Target="../charts/chart17.xml"/><Relationship Id="rId1" Type="http://schemas.openxmlformats.org/officeDocument/2006/relationships/slideLayout" Target="../slideLayouts/slideLayout8.xml"/><Relationship Id="rId4" Type="http://schemas.openxmlformats.org/officeDocument/2006/relationships/chart" Target="../charts/chart1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5.xml"/><Relationship Id="rId4" Type="http://schemas.openxmlformats.org/officeDocument/2006/relationships/chart" Target="../charts/chart2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1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Схема 5">
            <a:extLst>
              <a:ext uri="{FF2B5EF4-FFF2-40B4-BE49-F238E27FC236}">
                <a16:creationId xmlns:a16="http://schemas.microsoft.com/office/drawing/2014/main" id="{201FFD23-CC61-0557-5F61-34F302B0706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12906022"/>
              </p:ext>
            </p:extLst>
          </p:nvPr>
        </p:nvGraphicFramePr>
        <p:xfrm>
          <a:off x="1473199" y="481133"/>
          <a:ext cx="9245601" cy="12183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Схема 3">
            <a:extLst>
              <a:ext uri="{FF2B5EF4-FFF2-40B4-BE49-F238E27FC236}">
                <a16:creationId xmlns:a16="http://schemas.microsoft.com/office/drawing/2014/main" id="{5DE33D77-9D46-BAA8-D8D2-7CFA8A16D57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64722980"/>
              </p:ext>
            </p:extLst>
          </p:nvPr>
        </p:nvGraphicFramePr>
        <p:xfrm>
          <a:off x="3283526" y="2168933"/>
          <a:ext cx="5624945" cy="38938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4127725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1747B991-96AF-434B-6091-E250BC30A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1 – 4 сентября</a:t>
            </a: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7E23A4C3-DCE2-0D94-E713-788273C398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marL="342900" lvl="0" indent="-342900">
              <a:buFont typeface="Courier New" panose="02070309020205020404" pitchFamily="49" charset="0"/>
              <a:buChar char="o"/>
            </a:pPr>
            <a:r>
              <a:rPr lang="ru-RU" dirty="0"/>
              <a:t>Рост количества транзакций</a:t>
            </a:r>
          </a:p>
          <a:p>
            <a:pPr marL="342900" lvl="0" indent="-342900">
              <a:buFont typeface="Courier New" panose="02070309020205020404" pitchFamily="49" charset="0"/>
              <a:buChar char="o"/>
            </a:pPr>
            <a:r>
              <a:rPr lang="ru-RU" dirty="0"/>
              <a:t>Перегрузка серверов</a:t>
            </a:r>
          </a:p>
          <a:p>
            <a:pPr marL="342900" lvl="0" indent="-342900">
              <a:buFont typeface="Courier New" panose="02070309020205020404" pitchFamily="49" charset="0"/>
              <a:buChar char="o"/>
            </a:pPr>
            <a:r>
              <a:rPr lang="ru-RU" dirty="0"/>
              <a:t>Эффективность касс самообслуживания</a:t>
            </a:r>
          </a:p>
          <a:p>
            <a:pPr marL="342900" lvl="0" indent="-342900">
              <a:buFont typeface="Courier New" panose="02070309020205020404" pitchFamily="49" charset="0"/>
              <a:buChar char="o"/>
            </a:pPr>
            <a:r>
              <a:rPr lang="ru-RU" dirty="0"/>
              <a:t>Анализ 1-го дня</a:t>
            </a:r>
          </a:p>
        </p:txBody>
      </p:sp>
    </p:spTree>
    <p:extLst>
      <p:ext uri="{BB962C8B-B14F-4D97-AF65-F5344CB8AC3E}">
        <p14:creationId xmlns:p14="http://schemas.microsoft.com/office/powerpoint/2010/main" val="1646919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443AC74-CA48-493D-63EC-610E519D4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4430855" cy="1600200"/>
          </a:xfrm>
        </p:spPr>
        <p:txBody>
          <a:bodyPr>
            <a:noAutofit/>
          </a:bodyPr>
          <a:lstStyle/>
          <a:p>
            <a:r>
              <a:rPr lang="ru-RU" sz="3600" dirty="0"/>
              <a:t>Рост количества транзакций</a:t>
            </a:r>
            <a:br>
              <a:rPr lang="ru-RU" sz="3600" dirty="0"/>
            </a:br>
            <a:endParaRPr lang="ru-RU" sz="3600" dirty="0"/>
          </a:p>
        </p:txBody>
      </p:sp>
      <p:graphicFrame>
        <p:nvGraphicFramePr>
          <p:cNvPr id="9" name="Объект 8">
            <a:extLst>
              <a:ext uri="{FF2B5EF4-FFF2-40B4-BE49-F238E27FC236}">
                <a16:creationId xmlns:a16="http://schemas.microsoft.com/office/drawing/2014/main" id="{C6FF9BC0-F068-9189-DF8D-C26E632806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0304078"/>
              </p:ext>
            </p:extLst>
          </p:nvPr>
        </p:nvGraphicFramePr>
        <p:xfrm>
          <a:off x="5183188" y="987425"/>
          <a:ext cx="6172200" cy="4873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0" name="Текст 19">
            <a:extLst>
              <a:ext uri="{FF2B5EF4-FFF2-40B4-BE49-F238E27FC236}">
                <a16:creationId xmlns:a16="http://schemas.microsoft.com/office/drawing/2014/main" id="{B5DE4C8C-4471-7CC0-1E27-AEA71C039C8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sz="1700" dirty="0"/>
              <a:t>Общее кол-во транзакций </a:t>
            </a:r>
            <a:r>
              <a:rPr lang="ru-RU" sz="1700" b="1" dirty="0">
                <a:solidFill>
                  <a:srgbClr val="00B050"/>
                </a:solidFill>
              </a:rPr>
              <a:t>растет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sz="1700" dirty="0"/>
              <a:t>С 3 дня - точка на Чертановской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sz="1700" dirty="0"/>
              <a:t>Доля на Симферопольском </a:t>
            </a:r>
            <a:r>
              <a:rPr lang="ru-RU" sz="1700" b="1" dirty="0">
                <a:solidFill>
                  <a:srgbClr val="FF0000"/>
                </a:solidFill>
              </a:rPr>
              <a:t>падает</a:t>
            </a:r>
          </a:p>
        </p:txBody>
      </p:sp>
    </p:spTree>
    <p:extLst>
      <p:ext uri="{BB962C8B-B14F-4D97-AF65-F5344CB8AC3E}">
        <p14:creationId xmlns:p14="http://schemas.microsoft.com/office/powerpoint/2010/main" val="26480109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2BC14-98B0-386A-0E8B-8C680CE54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19F40602-A4B3-276F-8D3B-7022E0BB5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4656886" cy="1600200"/>
          </a:xfrm>
        </p:spPr>
        <p:txBody>
          <a:bodyPr>
            <a:noAutofit/>
          </a:bodyPr>
          <a:lstStyle/>
          <a:p>
            <a:r>
              <a:rPr lang="ru-RU" sz="3600" dirty="0"/>
              <a:t>Рост количества транзакций</a:t>
            </a:r>
            <a:br>
              <a:rPr lang="ru-RU" sz="3600" dirty="0"/>
            </a:br>
            <a:endParaRPr lang="ru-RU" sz="3600" dirty="0"/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AF157028-5A8F-AA14-1DD8-4C6A40D01CC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sz="1700" dirty="0"/>
              <a:t>Доля на Симферопольском падает </a:t>
            </a:r>
            <a:br>
              <a:rPr lang="ru-RU" sz="1700" dirty="0"/>
            </a:br>
            <a:r>
              <a:rPr lang="ru-RU" sz="1700" b="1" dirty="0"/>
              <a:t>с 3го дня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sz="1700" dirty="0"/>
              <a:t>Произошла «Каннибализация» </a:t>
            </a:r>
          </a:p>
          <a:p>
            <a:endParaRPr lang="ru-RU" sz="1700" dirty="0"/>
          </a:p>
        </p:txBody>
      </p:sp>
      <p:graphicFrame>
        <p:nvGraphicFramePr>
          <p:cNvPr id="6" name="Объект 12">
            <a:extLst>
              <a:ext uri="{FF2B5EF4-FFF2-40B4-BE49-F238E27FC236}">
                <a16:creationId xmlns:a16="http://schemas.microsoft.com/office/drawing/2014/main" id="{A60ED6AE-3BAE-5887-170B-B02B689771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62009938"/>
              </p:ext>
            </p:extLst>
          </p:nvPr>
        </p:nvGraphicFramePr>
        <p:xfrm>
          <a:off x="5183188" y="987425"/>
          <a:ext cx="6172200" cy="4873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3980191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EEECB-5933-AD94-8491-C81433841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61E6E5-B36F-4DF0-EBDA-2E8E4BA6B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Проблема: </a:t>
            </a:r>
            <a:br>
              <a:rPr lang="ru-RU" sz="3600" dirty="0"/>
            </a:br>
            <a:r>
              <a:rPr lang="ru-RU" sz="3600" dirty="0"/>
              <a:t>Нагрузка на сервер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8BD0E1D8-A771-8EB0-0DDE-323BD8A911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ru-RU" sz="2200" b="0" dirty="0"/>
              <a:t>На 3 сервере – </a:t>
            </a:r>
            <a:r>
              <a:rPr lang="ru-RU" sz="2200" dirty="0">
                <a:solidFill>
                  <a:srgbClr val="FF0000"/>
                </a:solidFill>
              </a:rPr>
              <a:t>растет</a:t>
            </a:r>
            <a:r>
              <a:rPr lang="ru-RU" sz="2200" b="0" dirty="0"/>
              <a:t> нагрузка</a:t>
            </a:r>
          </a:p>
        </p:txBody>
      </p:sp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AC9AE438-8F4F-0966-E33E-89BF7228B6B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043993136"/>
              </p:ext>
            </p:extLst>
          </p:nvPr>
        </p:nvGraphicFramePr>
        <p:xfrm>
          <a:off x="839788" y="2505075"/>
          <a:ext cx="5157787" cy="36845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Текст 7">
            <a:extLst>
              <a:ext uri="{FF2B5EF4-FFF2-40B4-BE49-F238E27FC236}">
                <a16:creationId xmlns:a16="http://schemas.microsoft.com/office/drawing/2014/main" id="{38FE222F-828F-1B24-D2CA-9129B25030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ru-RU" sz="2200" b="0" dirty="0"/>
              <a:t>Коэффициент достигал </a:t>
            </a:r>
            <a:r>
              <a:rPr lang="ru-RU" sz="2200" dirty="0">
                <a:solidFill>
                  <a:srgbClr val="FF0000"/>
                </a:solidFill>
              </a:rPr>
              <a:t>217%</a:t>
            </a:r>
          </a:p>
        </p:txBody>
      </p:sp>
      <p:graphicFrame>
        <p:nvGraphicFramePr>
          <p:cNvPr id="5" name="Объект 6">
            <a:extLst>
              <a:ext uri="{FF2B5EF4-FFF2-40B4-BE49-F238E27FC236}">
                <a16:creationId xmlns:a16="http://schemas.microsoft.com/office/drawing/2014/main" id="{ED2E9E7B-0233-AF1F-0B18-8756F63A1E75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4209198364"/>
              </p:ext>
            </p:extLst>
          </p:nvPr>
        </p:nvGraphicFramePr>
        <p:xfrm>
          <a:off x="6172200" y="2505075"/>
          <a:ext cx="5183188" cy="36845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1349720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7992D-E6F0-2C74-5AF0-C9680F0A1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BA0537-15EC-033D-EE1B-23654017B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Решение: </a:t>
            </a:r>
            <a:br>
              <a:rPr lang="ru-RU" sz="3600" dirty="0"/>
            </a:br>
            <a:r>
              <a:rPr lang="ru-RU" sz="3600" dirty="0"/>
              <a:t>Привязка Ракетном к 1 серверу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8B4D83D8-7473-CF8E-6997-3A18A5AEC5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ru-RU" sz="2200" b="0" dirty="0"/>
              <a:t>Нагрузка </a:t>
            </a:r>
            <a:r>
              <a:rPr lang="ru-RU" sz="2200" dirty="0">
                <a:solidFill>
                  <a:srgbClr val="00B050"/>
                </a:solidFill>
              </a:rPr>
              <a:t>сбалансирована</a:t>
            </a:r>
          </a:p>
        </p:txBody>
      </p:sp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A9D05F04-C8EA-3029-3315-32706AE71DC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18155188"/>
              </p:ext>
            </p:extLst>
          </p:nvPr>
        </p:nvGraphicFramePr>
        <p:xfrm>
          <a:off x="839788" y="2505075"/>
          <a:ext cx="5157787" cy="36845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Текст 7">
            <a:extLst>
              <a:ext uri="{FF2B5EF4-FFF2-40B4-BE49-F238E27FC236}">
                <a16:creationId xmlns:a16="http://schemas.microsoft.com/office/drawing/2014/main" id="{D4DB89BA-4E55-BC4F-64E7-8C50DC3C70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ru-RU" sz="2200" b="0" dirty="0"/>
              <a:t>Коэффициент меняется </a:t>
            </a:r>
            <a:r>
              <a:rPr lang="ru-RU" sz="2200" dirty="0">
                <a:solidFill>
                  <a:srgbClr val="00B050"/>
                </a:solidFill>
              </a:rPr>
              <a:t>плавнее</a:t>
            </a:r>
          </a:p>
        </p:txBody>
      </p:sp>
      <p:graphicFrame>
        <p:nvGraphicFramePr>
          <p:cNvPr id="5" name="Объект 6">
            <a:extLst>
              <a:ext uri="{FF2B5EF4-FFF2-40B4-BE49-F238E27FC236}">
                <a16:creationId xmlns:a16="http://schemas.microsoft.com/office/drawing/2014/main" id="{F576E0C4-A495-C285-F9E8-3F4E68B0CA01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3766551231"/>
              </p:ext>
            </p:extLst>
          </p:nvPr>
        </p:nvGraphicFramePr>
        <p:xfrm>
          <a:off x="6172200" y="2505075"/>
          <a:ext cx="5183188" cy="36845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0015839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26F3A-3544-D2E9-AF8A-1C13AD3CF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29166588-231D-78D5-8113-0449FE690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7" y="427876"/>
            <a:ext cx="4841822" cy="1600200"/>
          </a:xfrm>
        </p:spPr>
        <p:txBody>
          <a:bodyPr>
            <a:normAutofit fontScale="90000"/>
          </a:bodyPr>
          <a:lstStyle/>
          <a:p>
            <a:r>
              <a:rPr lang="ru-RU" sz="4000" dirty="0"/>
              <a:t>Кассы самообслуживания</a:t>
            </a:r>
            <a:br>
              <a:rPr lang="ru-RU" sz="4000" dirty="0"/>
            </a:br>
            <a:endParaRPr lang="ru-RU" sz="3600" dirty="0"/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CB07E6A3-F7BA-2470-29BD-F2CFDD5EEE0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sz="1700" dirty="0"/>
              <a:t>Три типа точек</a:t>
            </a:r>
            <a:endParaRPr lang="ru-RU" sz="1700" b="1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sz="1700" dirty="0"/>
              <a:t>На Чертановской </a:t>
            </a:r>
            <a:r>
              <a:rPr lang="ru-RU" sz="1700" b="1" dirty="0"/>
              <a:t>преобладает</a:t>
            </a:r>
            <a:r>
              <a:rPr lang="ru-RU" sz="1700" dirty="0"/>
              <a:t> самообслуживание</a:t>
            </a:r>
          </a:p>
          <a:p>
            <a:endParaRPr lang="ru-RU" sz="1700" dirty="0"/>
          </a:p>
        </p:txBody>
      </p:sp>
      <p:graphicFrame>
        <p:nvGraphicFramePr>
          <p:cNvPr id="6" name="Объект 12">
            <a:extLst>
              <a:ext uri="{FF2B5EF4-FFF2-40B4-BE49-F238E27FC236}">
                <a16:creationId xmlns:a16="http://schemas.microsoft.com/office/drawing/2014/main" id="{E5CC3AC1-9783-4966-5810-4A61803142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77719232"/>
              </p:ext>
            </p:extLst>
          </p:nvPr>
        </p:nvGraphicFramePr>
        <p:xfrm>
          <a:off x="5183188" y="987425"/>
          <a:ext cx="6172200" cy="4873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6713323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5F0B0-19A1-789B-E084-96D9C72C1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E20C55-FE70-BD63-7037-761D338EB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Эффективность </a:t>
            </a:r>
            <a:br>
              <a:rPr lang="ru-RU" sz="3600" dirty="0"/>
            </a:br>
            <a:r>
              <a:rPr lang="ru-RU" sz="3600" dirty="0"/>
              <a:t>касс самообслуживания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C7B2A5AA-0060-74AB-222C-3C4669DB28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ru-RU" sz="2200" b="0" dirty="0"/>
              <a:t>Доля использования </a:t>
            </a:r>
            <a:r>
              <a:rPr lang="ru-RU" sz="2200" dirty="0">
                <a:solidFill>
                  <a:srgbClr val="00B050"/>
                </a:solidFill>
              </a:rPr>
              <a:t>растет</a:t>
            </a:r>
            <a:r>
              <a:rPr lang="ru-RU" sz="2200" b="0" dirty="0"/>
              <a:t> </a:t>
            </a:r>
            <a:endParaRPr lang="ru-RU" sz="2200" dirty="0">
              <a:solidFill>
                <a:srgbClr val="00B050"/>
              </a:solidFill>
            </a:endParaRPr>
          </a:p>
        </p:txBody>
      </p:sp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ADDCC186-170C-0046-9DF3-D65D792979F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511633556"/>
              </p:ext>
            </p:extLst>
          </p:nvPr>
        </p:nvGraphicFramePr>
        <p:xfrm>
          <a:off x="839788" y="2505075"/>
          <a:ext cx="5157787" cy="36845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Текст 7">
            <a:extLst>
              <a:ext uri="{FF2B5EF4-FFF2-40B4-BE49-F238E27FC236}">
                <a16:creationId xmlns:a16="http://schemas.microsoft.com/office/drawing/2014/main" id="{908016BE-5845-A873-F2E7-59C78B01A6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ru-RU" sz="2200" b="0" dirty="0"/>
              <a:t>Кассами СО пользуются </a:t>
            </a:r>
            <a:r>
              <a:rPr lang="ru-RU" sz="2200" dirty="0"/>
              <a:t>дольше</a:t>
            </a:r>
          </a:p>
        </p:txBody>
      </p:sp>
      <p:graphicFrame>
        <p:nvGraphicFramePr>
          <p:cNvPr id="5" name="Объект 6">
            <a:extLst>
              <a:ext uri="{FF2B5EF4-FFF2-40B4-BE49-F238E27FC236}">
                <a16:creationId xmlns:a16="http://schemas.microsoft.com/office/drawing/2014/main" id="{E253C14B-A308-0494-E192-2B5241D9FFF3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883316129"/>
              </p:ext>
            </p:extLst>
          </p:nvPr>
        </p:nvGraphicFramePr>
        <p:xfrm>
          <a:off x="6172200" y="2505075"/>
          <a:ext cx="5183188" cy="36845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284093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6DE72-2322-5584-6D31-F3431D683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4AE9FDA0-5B0B-5071-1AF6-A8EDCF543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66436"/>
            <a:ext cx="4471121" cy="1600200"/>
          </a:xfrm>
        </p:spPr>
        <p:txBody>
          <a:bodyPr>
            <a:normAutofit fontScale="90000"/>
          </a:bodyPr>
          <a:lstStyle/>
          <a:p>
            <a:r>
              <a:rPr lang="ru-RU" sz="3600" dirty="0"/>
              <a:t>Анализ первого дня</a:t>
            </a:r>
            <a:br>
              <a:rPr lang="ru-RU" sz="3600" dirty="0"/>
            </a:br>
            <a:br>
              <a:rPr lang="ru-RU" sz="3600" dirty="0"/>
            </a:br>
            <a:endParaRPr lang="ru-RU" sz="3600" dirty="0"/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B355D67A-0385-F95B-4032-0A89E959C0E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sz="1700" dirty="0"/>
              <a:t>Три всплеска: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1700" dirty="0"/>
              <a:t>с 2 до 7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1700" dirty="0"/>
              <a:t>с 10 до  16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1700" dirty="0"/>
              <a:t>после 16</a:t>
            </a:r>
          </a:p>
        </p:txBody>
      </p:sp>
      <p:graphicFrame>
        <p:nvGraphicFramePr>
          <p:cNvPr id="6" name="Объект 12">
            <a:extLst>
              <a:ext uri="{FF2B5EF4-FFF2-40B4-BE49-F238E27FC236}">
                <a16:creationId xmlns:a16="http://schemas.microsoft.com/office/drawing/2014/main" id="{3FE14446-4D6F-FCC8-BF4B-0C2438C838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5651113"/>
              </p:ext>
            </p:extLst>
          </p:nvPr>
        </p:nvGraphicFramePr>
        <p:xfrm>
          <a:off x="5183188" y="987425"/>
          <a:ext cx="6172200" cy="4873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7172109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AA9BD-129C-76A3-0646-CA65A5DD1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87B404-A995-BFA5-F08E-19DEBB8AC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Анализ первого дня</a:t>
            </a:r>
            <a:br>
              <a:rPr lang="ru-RU" sz="3600" dirty="0"/>
            </a:br>
            <a:endParaRPr lang="ru-RU" sz="3600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5DFB92A7-2936-37EE-BE3C-B1BDCD4BD9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179512"/>
            <a:ext cx="5157787" cy="1325563"/>
          </a:xfrm>
        </p:spPr>
        <p:txBody>
          <a:bodyPr>
            <a:norm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ru-RU" sz="1600" b="0" dirty="0"/>
              <a:t>Всплеск на Щорса с 2 до 7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ru-RU" sz="1600" b="0" dirty="0"/>
              <a:t>Всплеск на Ленинском и Вернадского с 10 до 16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ru-RU" sz="1600" b="0" dirty="0"/>
              <a:t>Всплеск на Ракетном после 16</a:t>
            </a:r>
            <a:endParaRPr lang="ru-RU" sz="1600" dirty="0"/>
          </a:p>
        </p:txBody>
      </p:sp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EA2DBD9C-CA82-0424-F489-761AC4C99C3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837979388"/>
              </p:ext>
            </p:extLst>
          </p:nvPr>
        </p:nvGraphicFramePr>
        <p:xfrm>
          <a:off x="839788" y="2505075"/>
          <a:ext cx="5157787" cy="36845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Текст 7">
            <a:extLst>
              <a:ext uri="{FF2B5EF4-FFF2-40B4-BE49-F238E27FC236}">
                <a16:creationId xmlns:a16="http://schemas.microsoft.com/office/drawing/2014/main" id="{A78A73DD-4BAA-DF0A-8A2D-3E4E5F451F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179512"/>
            <a:ext cx="5183188" cy="1325563"/>
          </a:xfrm>
        </p:spPr>
        <p:txBody>
          <a:bodyPr>
            <a:norm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ru-RU" sz="1600" b="0" dirty="0"/>
              <a:t>Всплеска на Щорса </a:t>
            </a:r>
            <a:r>
              <a:rPr lang="ru-RU" sz="1600" dirty="0"/>
              <a:t>нет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ru-RU" sz="1600" b="0" dirty="0"/>
              <a:t>Всплеск на Ленинском и Вернадского с 10 до 16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ru-RU" sz="1600" b="0" dirty="0"/>
              <a:t>Всплеска на Ракетном </a:t>
            </a:r>
            <a:r>
              <a:rPr lang="ru-RU" sz="1600" dirty="0"/>
              <a:t>нет</a:t>
            </a:r>
          </a:p>
        </p:txBody>
      </p:sp>
      <p:graphicFrame>
        <p:nvGraphicFramePr>
          <p:cNvPr id="5" name="Объект 6">
            <a:extLst>
              <a:ext uri="{FF2B5EF4-FFF2-40B4-BE49-F238E27FC236}">
                <a16:creationId xmlns:a16="http://schemas.microsoft.com/office/drawing/2014/main" id="{2C8D483B-4266-4CCF-6300-C4B6C7BAAF25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625859671"/>
              </p:ext>
            </p:extLst>
          </p:nvPr>
        </p:nvGraphicFramePr>
        <p:xfrm>
          <a:off x="6172200" y="2505075"/>
          <a:ext cx="5183188" cy="36845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3034928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B7F16-6D25-39AB-EE61-E10A6C0B8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5BA988-561A-A6DA-85F5-F1A4AB19E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Анализ первого дня</a:t>
            </a:r>
            <a:br>
              <a:rPr lang="ru-RU" sz="3600" dirty="0"/>
            </a:br>
            <a:endParaRPr lang="ru-RU" sz="3600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380DB949-D59A-A4D6-40EB-826FC6D53F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179512"/>
            <a:ext cx="5157787" cy="1325563"/>
          </a:xfrm>
        </p:spPr>
        <p:txBody>
          <a:bodyPr>
            <a:norm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ru-RU" sz="1600" b="0" dirty="0"/>
              <a:t>Всплеск на 1 сервере с 2 до 7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ru-RU" sz="1600" b="0" dirty="0"/>
              <a:t>Всплеск на 2 сервере с 10 до 16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ru-RU" sz="1600" b="0" dirty="0"/>
              <a:t>Всплеск на 3 сервере после 16</a:t>
            </a:r>
            <a:endParaRPr lang="ru-RU" sz="1600" dirty="0"/>
          </a:p>
        </p:txBody>
      </p:sp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9AE622C9-19C4-DF6F-5473-2B075C8846A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23515568"/>
              </p:ext>
            </p:extLst>
          </p:nvPr>
        </p:nvGraphicFramePr>
        <p:xfrm>
          <a:off x="839788" y="2505075"/>
          <a:ext cx="5157787" cy="36845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Текст 7">
            <a:extLst>
              <a:ext uri="{FF2B5EF4-FFF2-40B4-BE49-F238E27FC236}">
                <a16:creationId xmlns:a16="http://schemas.microsoft.com/office/drawing/2014/main" id="{FAB9DBE6-7D35-A7C8-E29B-5DE9C29011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179512"/>
            <a:ext cx="5183188" cy="1325563"/>
          </a:xfrm>
        </p:spPr>
        <p:txBody>
          <a:bodyPr>
            <a:norm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ru-RU" sz="1600" b="0" dirty="0"/>
              <a:t>Всплеска на 1 сервере </a:t>
            </a:r>
            <a:r>
              <a:rPr lang="ru-RU" sz="1600" dirty="0"/>
              <a:t>нет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ru-RU" sz="1600" b="0" dirty="0"/>
              <a:t>Всплеск на 2 сервере с 10 до 16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ru-RU" sz="1600" b="0" dirty="0"/>
              <a:t>Всплеска на 3 сервере </a:t>
            </a:r>
            <a:r>
              <a:rPr lang="ru-RU" sz="1600" dirty="0"/>
              <a:t>нет</a:t>
            </a:r>
          </a:p>
        </p:txBody>
      </p:sp>
      <p:graphicFrame>
        <p:nvGraphicFramePr>
          <p:cNvPr id="5" name="Объект 6">
            <a:extLst>
              <a:ext uri="{FF2B5EF4-FFF2-40B4-BE49-F238E27FC236}">
                <a16:creationId xmlns:a16="http://schemas.microsoft.com/office/drawing/2014/main" id="{83203B06-22D8-2A73-AD7E-64F165207F9A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2313600431"/>
              </p:ext>
            </p:extLst>
          </p:nvPr>
        </p:nvGraphicFramePr>
        <p:xfrm>
          <a:off x="6172200" y="2505075"/>
          <a:ext cx="5183188" cy="36845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1157513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B965F-6DB9-99DA-5FE9-3A200B023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5AD68A-C682-B192-74D5-15297514B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Анализ первого дня</a:t>
            </a:r>
            <a:br>
              <a:rPr lang="ru-RU" sz="3600" dirty="0"/>
            </a:br>
            <a:endParaRPr lang="ru-RU" sz="3600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5397CEC7-2F82-1440-8832-2307F39AD8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179512"/>
            <a:ext cx="5157787" cy="1325563"/>
          </a:xfrm>
        </p:spPr>
        <p:txBody>
          <a:bodyPr>
            <a:norm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ru-RU" sz="1600" dirty="0"/>
              <a:t>Общий</a:t>
            </a:r>
            <a:r>
              <a:rPr lang="ru-RU" sz="1600" b="0" dirty="0"/>
              <a:t> всплеск с 2 до 7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ru-RU" sz="1600" dirty="0"/>
              <a:t>Общий</a:t>
            </a:r>
            <a:r>
              <a:rPr lang="ru-RU" sz="1600" b="0" dirty="0"/>
              <a:t> всплеск с 10 до 16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ru-RU" sz="1600" b="0" dirty="0"/>
              <a:t>Всплеск </a:t>
            </a:r>
            <a:r>
              <a:rPr lang="en-US" sz="1600" dirty="0"/>
              <a:t>MasterCard</a:t>
            </a:r>
            <a:r>
              <a:rPr lang="en-US" sz="1600" b="0" dirty="0"/>
              <a:t> </a:t>
            </a:r>
            <a:r>
              <a:rPr lang="ru-RU" sz="1600" b="0" dirty="0"/>
              <a:t>после 16</a:t>
            </a:r>
            <a:endParaRPr lang="ru-RU" sz="1600" dirty="0"/>
          </a:p>
        </p:txBody>
      </p:sp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43C1B732-429C-477A-B0DE-2F9DC486581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310235079"/>
              </p:ext>
            </p:extLst>
          </p:nvPr>
        </p:nvGraphicFramePr>
        <p:xfrm>
          <a:off x="839788" y="2505075"/>
          <a:ext cx="5157787" cy="36845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Текст 7">
            <a:extLst>
              <a:ext uri="{FF2B5EF4-FFF2-40B4-BE49-F238E27FC236}">
                <a16:creationId xmlns:a16="http://schemas.microsoft.com/office/drawing/2014/main" id="{56B59E53-4FF0-405D-2F56-57E237BE03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179512"/>
            <a:ext cx="5183188" cy="1325563"/>
          </a:xfrm>
        </p:spPr>
        <p:txBody>
          <a:bodyPr>
            <a:norm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ru-RU" sz="1600" b="0" dirty="0"/>
              <a:t>Проблема </a:t>
            </a:r>
            <a:r>
              <a:rPr lang="en-US" sz="1600" dirty="0"/>
              <a:t>MasterCard</a:t>
            </a:r>
            <a:r>
              <a:rPr lang="en-US" sz="1600" b="0" dirty="0"/>
              <a:t> –</a:t>
            </a:r>
            <a:r>
              <a:rPr lang="ru-RU" sz="1600" b="0" dirty="0"/>
              <a:t> на Ракетном</a:t>
            </a:r>
          </a:p>
        </p:txBody>
      </p:sp>
      <p:graphicFrame>
        <p:nvGraphicFramePr>
          <p:cNvPr id="5" name="Объект 6">
            <a:extLst>
              <a:ext uri="{FF2B5EF4-FFF2-40B4-BE49-F238E27FC236}">
                <a16:creationId xmlns:a16="http://schemas.microsoft.com/office/drawing/2014/main" id="{524AAACE-6E16-9D6F-4F6E-A8F8F76A9346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1109915254"/>
              </p:ext>
            </p:extLst>
          </p:nvPr>
        </p:nvGraphicFramePr>
        <p:xfrm>
          <a:off x="6172200" y="2505075"/>
          <a:ext cx="5183188" cy="36845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876200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836BD-8A07-727E-6BED-75AACDB0E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1601FB6C-B4EB-C1D2-D35E-BE1172F70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5 – 7 сентября</a:t>
            </a: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9438A2F7-E3A0-8C24-E79B-362BE8DA27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>
              <a:buFont typeface="Courier New" panose="02070309020205020404" pitchFamily="49" charset="0"/>
              <a:buChar char="o"/>
            </a:pPr>
            <a:r>
              <a:rPr lang="ru-RU" dirty="0"/>
              <a:t>Технические сбои</a:t>
            </a:r>
          </a:p>
          <a:p>
            <a:pPr marL="342900" lvl="0" indent="-342900">
              <a:buFont typeface="Courier New" panose="02070309020205020404" pitchFamily="49" charset="0"/>
              <a:buChar char="o"/>
            </a:pPr>
            <a:r>
              <a:rPr lang="ru-RU" dirty="0"/>
              <a:t>Акция</a:t>
            </a:r>
          </a:p>
          <a:p>
            <a:pPr marL="342900" lvl="0" indent="-342900">
              <a:buFont typeface="Courier New" panose="02070309020205020404" pitchFamily="49" charset="0"/>
              <a:buChar char="o"/>
            </a:pPr>
            <a:r>
              <a:rPr lang="ru-RU" dirty="0"/>
              <a:t>Система лояльности</a:t>
            </a:r>
          </a:p>
        </p:txBody>
      </p:sp>
    </p:spTree>
    <p:extLst>
      <p:ext uri="{BB962C8B-B14F-4D97-AF65-F5344CB8AC3E}">
        <p14:creationId xmlns:p14="http://schemas.microsoft.com/office/powerpoint/2010/main" val="5986160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A2084-D3B6-AE02-138E-21A4D4011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603A219F-B021-030D-ACDA-F5C2BB951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550" y="1806220"/>
            <a:ext cx="5110725" cy="1600200"/>
          </a:xfrm>
        </p:spPr>
        <p:txBody>
          <a:bodyPr>
            <a:normAutofit/>
          </a:bodyPr>
          <a:lstStyle/>
          <a:p>
            <a:br>
              <a:rPr lang="ru-RU" dirty="0"/>
            </a:br>
            <a:endParaRPr lang="ru-RU" dirty="0"/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E7E88388-5B93-1588-DD64-173D376681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2674" y="1821419"/>
            <a:ext cx="5157602" cy="362976"/>
          </a:xfrm>
        </p:spPr>
        <p:txBody>
          <a:bodyPr anchor="b">
            <a:normAutofit fontScale="92500"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sz="1700" dirty="0"/>
              <a:t>Сбои = увеличение </a:t>
            </a:r>
            <a:r>
              <a:rPr lang="ru-RU" sz="1700" b="1" dirty="0">
                <a:solidFill>
                  <a:srgbClr val="FF0000"/>
                </a:solidFill>
              </a:rPr>
              <a:t>длительности</a:t>
            </a:r>
            <a:r>
              <a:rPr lang="ru-RU" sz="1700" b="1" dirty="0">
                <a:solidFill>
                  <a:srgbClr val="C00000"/>
                </a:solidFill>
              </a:rPr>
              <a:t> </a:t>
            </a:r>
            <a:r>
              <a:rPr lang="ru-RU" sz="1700" dirty="0"/>
              <a:t>платежа</a:t>
            </a:r>
            <a:endParaRPr lang="ru-RU" sz="1700" dirty="0">
              <a:solidFill>
                <a:srgbClr val="C00000"/>
              </a:solidFill>
            </a:endParaRPr>
          </a:p>
        </p:txBody>
      </p:sp>
      <p:graphicFrame>
        <p:nvGraphicFramePr>
          <p:cNvPr id="6" name="Объект 12">
            <a:extLst>
              <a:ext uri="{FF2B5EF4-FFF2-40B4-BE49-F238E27FC236}">
                <a16:creationId xmlns:a16="http://schemas.microsoft.com/office/drawing/2014/main" id="{80241E81-4E46-CA6C-4AAB-6B363EEEE1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70093760"/>
              </p:ext>
            </p:extLst>
          </p:nvPr>
        </p:nvGraphicFramePr>
        <p:xfrm>
          <a:off x="583550" y="3440542"/>
          <a:ext cx="4322575" cy="34131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Объект 12">
            <a:extLst>
              <a:ext uri="{FF2B5EF4-FFF2-40B4-BE49-F238E27FC236}">
                <a16:creationId xmlns:a16="http://schemas.microsoft.com/office/drawing/2014/main" id="{A52E217C-2347-BB54-9F8D-C0027E8B6E3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49143634"/>
              </p:ext>
            </p:extLst>
          </p:nvPr>
        </p:nvGraphicFramePr>
        <p:xfrm>
          <a:off x="6088349" y="38436"/>
          <a:ext cx="4322575" cy="34131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Объект 12">
            <a:extLst>
              <a:ext uri="{FF2B5EF4-FFF2-40B4-BE49-F238E27FC236}">
                <a16:creationId xmlns:a16="http://schemas.microsoft.com/office/drawing/2014/main" id="{24966860-2314-A5B9-CAD9-5A8A830E40A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62056624"/>
              </p:ext>
            </p:extLst>
          </p:nvPr>
        </p:nvGraphicFramePr>
        <p:xfrm>
          <a:off x="6088349" y="3451580"/>
          <a:ext cx="4322575" cy="34131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8203AD9E-ADE0-9106-ACAD-A43D835361E9}"/>
              </a:ext>
            </a:extLst>
          </p:cNvPr>
          <p:cNvSpPr txBox="1">
            <a:spLocks/>
          </p:cNvSpPr>
          <p:nvPr/>
        </p:nvSpPr>
        <p:spPr>
          <a:xfrm>
            <a:off x="933924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4000" dirty="0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D19F1526-A889-C36F-2655-3250CD1281EF}"/>
              </a:ext>
            </a:extLst>
          </p:cNvPr>
          <p:cNvSpPr txBox="1">
            <a:spLocks/>
          </p:cNvSpPr>
          <p:nvPr/>
        </p:nvSpPr>
        <p:spPr>
          <a:xfrm>
            <a:off x="780576" y="26420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dirty="0"/>
              <a:t>Технические сбои </a:t>
            </a:r>
            <a:br>
              <a:rPr lang="ru-RU" sz="3600" dirty="0"/>
            </a:br>
            <a:endParaRPr lang="ru-RU" sz="3600" dirty="0"/>
          </a:p>
        </p:txBody>
      </p:sp>
      <p:sp>
        <p:nvSpPr>
          <p:cNvPr id="12" name="Текст 1">
            <a:extLst>
              <a:ext uri="{FF2B5EF4-FFF2-40B4-BE49-F238E27FC236}">
                <a16:creationId xmlns:a16="http://schemas.microsoft.com/office/drawing/2014/main" id="{ED49E87C-7DB4-34CF-A776-BCFE048C2B82}"/>
              </a:ext>
            </a:extLst>
          </p:cNvPr>
          <p:cNvSpPr txBox="1">
            <a:spLocks/>
          </p:cNvSpPr>
          <p:nvPr/>
        </p:nvSpPr>
        <p:spPr>
          <a:xfrm>
            <a:off x="10288033" y="707492"/>
            <a:ext cx="1739055" cy="11355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sz="1700" dirty="0"/>
              <a:t>Без сбоя – </a:t>
            </a:r>
            <a:r>
              <a:rPr lang="ru-RU" sz="1700" b="1" dirty="0"/>
              <a:t>98,2</a:t>
            </a:r>
            <a:r>
              <a:rPr lang="ru-RU" sz="1700" b="1" dirty="0">
                <a:solidFill>
                  <a:srgbClr val="C00000"/>
                </a:solidFill>
              </a:rPr>
              <a:t> </a:t>
            </a:r>
            <a:r>
              <a:rPr lang="ru-RU" sz="1700" b="1" dirty="0"/>
              <a:t>сек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sz="1700" dirty="0"/>
              <a:t>Сбой –</a:t>
            </a:r>
            <a:br>
              <a:rPr lang="ru-RU" sz="1700" dirty="0"/>
            </a:br>
            <a:r>
              <a:rPr lang="ru-RU" sz="1700" b="1" dirty="0">
                <a:solidFill>
                  <a:srgbClr val="FF0000"/>
                </a:solidFill>
              </a:rPr>
              <a:t>+42,5%</a:t>
            </a:r>
          </a:p>
        </p:txBody>
      </p:sp>
      <p:sp>
        <p:nvSpPr>
          <p:cNvPr id="13" name="Текст 1">
            <a:extLst>
              <a:ext uri="{FF2B5EF4-FFF2-40B4-BE49-F238E27FC236}">
                <a16:creationId xmlns:a16="http://schemas.microsoft.com/office/drawing/2014/main" id="{5ACFFD0E-B12F-ED64-0371-74F8A898D016}"/>
              </a:ext>
            </a:extLst>
          </p:cNvPr>
          <p:cNvSpPr txBox="1">
            <a:spLocks/>
          </p:cNvSpPr>
          <p:nvPr/>
        </p:nvSpPr>
        <p:spPr>
          <a:xfrm>
            <a:off x="4571149" y="3521952"/>
            <a:ext cx="1517199" cy="11355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sz="1700" dirty="0"/>
              <a:t>Без сбоя – </a:t>
            </a:r>
            <a:r>
              <a:rPr lang="ru-RU" sz="1700" b="1" dirty="0"/>
              <a:t>186,33</a:t>
            </a:r>
            <a:r>
              <a:rPr lang="ru-RU" sz="1700" b="1" dirty="0">
                <a:solidFill>
                  <a:srgbClr val="C00000"/>
                </a:solidFill>
              </a:rPr>
              <a:t> </a:t>
            </a:r>
            <a:r>
              <a:rPr lang="ru-RU" sz="1700" b="1" dirty="0"/>
              <a:t>сек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sz="1700" dirty="0"/>
              <a:t>Сбой –</a:t>
            </a:r>
            <a:br>
              <a:rPr lang="ru-RU" sz="1700" dirty="0"/>
            </a:br>
            <a:r>
              <a:rPr lang="ru-RU" sz="1700" b="1" dirty="0">
                <a:solidFill>
                  <a:srgbClr val="FF0000"/>
                </a:solidFill>
              </a:rPr>
              <a:t>+23,6%</a:t>
            </a:r>
          </a:p>
        </p:txBody>
      </p:sp>
      <p:sp>
        <p:nvSpPr>
          <p:cNvPr id="14" name="Текст 1">
            <a:extLst>
              <a:ext uri="{FF2B5EF4-FFF2-40B4-BE49-F238E27FC236}">
                <a16:creationId xmlns:a16="http://schemas.microsoft.com/office/drawing/2014/main" id="{5BE2A05E-56BC-A545-9127-6AD4FE990882}"/>
              </a:ext>
            </a:extLst>
          </p:cNvPr>
          <p:cNvSpPr txBox="1">
            <a:spLocks/>
          </p:cNvSpPr>
          <p:nvPr/>
        </p:nvSpPr>
        <p:spPr>
          <a:xfrm>
            <a:off x="10083242" y="3521952"/>
            <a:ext cx="1525208" cy="11355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sz="1700" dirty="0"/>
              <a:t>Без сбоя – </a:t>
            </a:r>
            <a:r>
              <a:rPr lang="ru-RU" sz="1700" b="1" dirty="0"/>
              <a:t>67,5</a:t>
            </a:r>
            <a:r>
              <a:rPr lang="ru-RU" sz="1700" b="1" dirty="0">
                <a:solidFill>
                  <a:srgbClr val="C00000"/>
                </a:solidFill>
              </a:rPr>
              <a:t> </a:t>
            </a:r>
            <a:r>
              <a:rPr lang="ru-RU" sz="1700" b="1" dirty="0"/>
              <a:t>сек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sz="1700" dirty="0"/>
              <a:t>Сбой –</a:t>
            </a:r>
            <a:br>
              <a:rPr lang="ru-RU" sz="1700" dirty="0"/>
            </a:br>
            <a:r>
              <a:rPr lang="ru-RU" sz="1700" b="1" dirty="0">
                <a:solidFill>
                  <a:srgbClr val="FF0000"/>
                </a:solidFill>
              </a:rPr>
              <a:t>+69,1%</a:t>
            </a:r>
          </a:p>
        </p:txBody>
      </p:sp>
    </p:spTree>
    <p:extLst>
      <p:ext uri="{BB962C8B-B14F-4D97-AF65-F5344CB8AC3E}">
        <p14:creationId xmlns:p14="http://schemas.microsoft.com/office/powerpoint/2010/main" val="33133587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9C1C5-BEFB-84DF-0F4D-CE300C775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A078E6-A639-E542-12FB-06886F6F6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Акция 7 сентября</a:t>
            </a:r>
            <a:br>
              <a:rPr lang="ru-RU" sz="3600" dirty="0"/>
            </a:br>
            <a:endParaRPr lang="ru-RU" sz="3600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8A9B436F-9F83-ABCB-4041-E7F9E01E8B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179512"/>
            <a:ext cx="5157787" cy="1325563"/>
          </a:xfrm>
        </p:spPr>
        <p:txBody>
          <a:bodyPr>
            <a:norm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ru-RU" sz="1700" dirty="0"/>
              <a:t>Средний чек</a:t>
            </a:r>
            <a:r>
              <a:rPr lang="ru-RU" sz="1700" b="0" dirty="0"/>
              <a:t> до акции – 18 430,01₽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ru-RU" sz="1700" b="0" dirty="0"/>
              <a:t>Аплифт </a:t>
            </a:r>
            <a:r>
              <a:rPr lang="ru-RU" sz="1700" dirty="0">
                <a:solidFill>
                  <a:srgbClr val="00B050"/>
                </a:solidFill>
              </a:rPr>
              <a:t>+1 484,48₽ </a:t>
            </a:r>
            <a:r>
              <a:rPr lang="ru-RU" sz="1700" b="0" dirty="0"/>
              <a:t>или </a:t>
            </a:r>
            <a:r>
              <a:rPr lang="ru-RU" sz="1700" dirty="0">
                <a:solidFill>
                  <a:srgbClr val="00B050"/>
                </a:solidFill>
              </a:rPr>
              <a:t>+8,05%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ru-RU" sz="1700" b="0" dirty="0"/>
              <a:t>Прибыль </a:t>
            </a:r>
            <a:r>
              <a:rPr lang="ru-RU" sz="1700" dirty="0">
                <a:solidFill>
                  <a:srgbClr val="00B050"/>
                </a:solidFill>
              </a:rPr>
              <a:t>+2 650 997,14₽ </a:t>
            </a:r>
            <a:endParaRPr lang="ru-RU" sz="1700" dirty="0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005900FC-7FDC-F796-999B-A0999472D9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179512"/>
            <a:ext cx="5183188" cy="1325563"/>
          </a:xfrm>
        </p:spPr>
        <p:txBody>
          <a:bodyPr>
            <a:norm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ru-RU" sz="1700" b="0" dirty="0"/>
              <a:t>Затраты на акцию - </a:t>
            </a:r>
            <a:r>
              <a:rPr lang="ru-RU" sz="1700" dirty="0"/>
              <a:t>2 418 500,00₽ 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ru-RU" sz="1700" dirty="0"/>
              <a:t>2 068 500,00₽ </a:t>
            </a:r>
            <a:r>
              <a:rPr lang="ru-RU" sz="1700" b="0" dirty="0"/>
              <a:t>из них – обычные участники</a:t>
            </a:r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5" name="Объект 6">
                <a:extLst>
                  <a:ext uri="{FF2B5EF4-FFF2-40B4-BE49-F238E27FC236}">
                    <a16:creationId xmlns:a16="http://schemas.microsoft.com/office/drawing/2014/main" id="{C92EED0F-5227-1E97-26C4-04461E4BC646}"/>
                  </a:ext>
                </a:extLst>
              </p:cNvPr>
              <p:cNvGraphicFramePr>
                <a:graphicFrameLocks noGrp="1"/>
              </p:cNvGraphicFramePr>
              <p:nvPr>
                <p:ph sz="quarter" idx="4"/>
                <p:extLst>
                  <p:ext uri="{D42A27DB-BD31-4B8C-83A1-F6EECF244321}">
                    <p14:modId xmlns:p14="http://schemas.microsoft.com/office/powerpoint/2010/main" val="605898032"/>
                  </p:ext>
                </p:extLst>
              </p:nvPr>
            </p:nvGraphicFramePr>
            <p:xfrm>
              <a:off x="6172200" y="2505075"/>
              <a:ext cx="5183188" cy="3684588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5" name="Объект 6">
                <a:extLst>
                  <a:ext uri="{FF2B5EF4-FFF2-40B4-BE49-F238E27FC236}">
                    <a16:creationId xmlns:a16="http://schemas.microsoft.com/office/drawing/2014/main" id="{C92EED0F-5227-1E97-26C4-04461E4BC64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172200" y="2505075"/>
                <a:ext cx="5183188" cy="3684588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10" name="Объект 12">
            <a:extLst>
              <a:ext uri="{FF2B5EF4-FFF2-40B4-BE49-F238E27FC236}">
                <a16:creationId xmlns:a16="http://schemas.microsoft.com/office/drawing/2014/main" id="{4E371646-E87D-8138-D74D-6D60EAF41E7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82645596"/>
              </p:ext>
            </p:extLst>
          </p:nvPr>
        </p:nvGraphicFramePr>
        <p:xfrm>
          <a:off x="839788" y="2505075"/>
          <a:ext cx="5157787" cy="36845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6211183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04E15-00E1-F8D3-347B-111D17DF8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8E5C300-5586-2E12-66ED-80C497739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Распределение скидок</a:t>
            </a:r>
            <a:br>
              <a:rPr lang="ru-RU" sz="3600" dirty="0"/>
            </a:br>
            <a:endParaRPr lang="ru-RU" sz="3600" dirty="0"/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190E41D1-4906-D18C-22D4-95D22A4EEF1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92500" lnSpcReduction="10000"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sz="1700" b="1" dirty="0"/>
              <a:t>Средняя скидка </a:t>
            </a:r>
            <a:r>
              <a:rPr lang="ru-RU" sz="1700" dirty="0"/>
              <a:t>на чек – </a:t>
            </a:r>
            <a:r>
              <a:rPr lang="ru-RU" sz="1700" b="1" dirty="0">
                <a:solidFill>
                  <a:srgbClr val="FF0000"/>
                </a:solidFill>
              </a:rPr>
              <a:t>131,65₽</a:t>
            </a:r>
            <a:r>
              <a:rPr lang="ru-RU" sz="1700" b="1" dirty="0"/>
              <a:t>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sz="1700" b="1" dirty="0"/>
              <a:t>Теряем </a:t>
            </a:r>
            <a:r>
              <a:rPr lang="ru-RU" sz="1700" dirty="0"/>
              <a:t>в выручке </a:t>
            </a:r>
            <a:r>
              <a:rPr lang="ru-RU" sz="1700" b="1" dirty="0">
                <a:solidFill>
                  <a:srgbClr val="FF0000"/>
                </a:solidFill>
              </a:rPr>
              <a:t>4 000 951,30₽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sz="1700" dirty="0"/>
              <a:t>Бин</a:t>
            </a:r>
            <a:r>
              <a:rPr lang="ru-RU" sz="1700" b="1" dirty="0">
                <a:solidFill>
                  <a:srgbClr val="FF0000"/>
                </a:solidFill>
              </a:rPr>
              <a:t> </a:t>
            </a:r>
            <a:r>
              <a:rPr lang="ru-RU" sz="1700" b="1" dirty="0"/>
              <a:t>до 4 % </a:t>
            </a:r>
            <a:r>
              <a:rPr lang="ru-RU" sz="1700" dirty="0"/>
              <a:t>– </a:t>
            </a:r>
            <a:r>
              <a:rPr lang="ru-RU" sz="1700" b="1" dirty="0">
                <a:solidFill>
                  <a:srgbClr val="FF0000"/>
                </a:solidFill>
              </a:rPr>
              <a:t>самый затратный</a:t>
            </a:r>
          </a:p>
          <a:p>
            <a:endParaRPr lang="ru-RU" sz="1700" b="1" dirty="0">
              <a:solidFill>
                <a:srgbClr val="FF0000"/>
              </a:solidFill>
            </a:endParaRPr>
          </a:p>
          <a:p>
            <a:r>
              <a:rPr lang="ru-RU" sz="1700" dirty="0"/>
              <a:t>После уменьшения на 1% ожидается: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sz="1700" b="1" dirty="0"/>
              <a:t>Средняя скидка </a:t>
            </a:r>
            <a:r>
              <a:rPr lang="ru-RU" sz="1700" dirty="0"/>
              <a:t>на чек – </a:t>
            </a:r>
            <a:r>
              <a:rPr lang="ru-RU" sz="1700" b="1" dirty="0">
                <a:solidFill>
                  <a:srgbClr val="00B050"/>
                </a:solidFill>
              </a:rPr>
              <a:t>115,04₽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sz="1700" b="1" dirty="0"/>
              <a:t>Теряем </a:t>
            </a:r>
            <a:r>
              <a:rPr lang="ru-RU" sz="1700" dirty="0"/>
              <a:t>в выручке </a:t>
            </a:r>
            <a:r>
              <a:rPr lang="ru-RU" sz="1700" b="1" dirty="0">
                <a:solidFill>
                  <a:srgbClr val="00B050"/>
                </a:solidFill>
              </a:rPr>
              <a:t>3 495 999,08₽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sz="1700" dirty="0"/>
              <a:t>Изменение </a:t>
            </a:r>
            <a:r>
              <a:rPr lang="ru-RU" sz="1700" b="1" dirty="0"/>
              <a:t>затрат</a:t>
            </a:r>
            <a:r>
              <a:rPr lang="ru-RU" sz="1700" dirty="0"/>
              <a:t> </a:t>
            </a:r>
            <a:r>
              <a:rPr lang="ru-RU" sz="1700" dirty="0">
                <a:solidFill>
                  <a:srgbClr val="00B050"/>
                </a:solidFill>
              </a:rPr>
              <a:t>-</a:t>
            </a:r>
            <a:r>
              <a:rPr lang="ru-RU" sz="1700" b="1" dirty="0">
                <a:solidFill>
                  <a:srgbClr val="00B050"/>
                </a:solidFill>
              </a:rPr>
              <a:t>12,62%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ru-RU" sz="1700" b="1" dirty="0"/>
          </a:p>
          <a:p>
            <a:endParaRPr lang="ru-RU" sz="1700" dirty="0"/>
          </a:p>
        </p:txBody>
      </p:sp>
      <p:graphicFrame>
        <p:nvGraphicFramePr>
          <p:cNvPr id="6" name="Объект 12">
            <a:extLst>
              <a:ext uri="{FF2B5EF4-FFF2-40B4-BE49-F238E27FC236}">
                <a16:creationId xmlns:a16="http://schemas.microsoft.com/office/drawing/2014/main" id="{7E3EEB18-9274-E5C0-9D07-5C6C7F2A1D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37243174"/>
              </p:ext>
            </p:extLst>
          </p:nvPr>
        </p:nvGraphicFramePr>
        <p:xfrm>
          <a:off x="5183188" y="987425"/>
          <a:ext cx="6172200" cy="4873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7088879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D6CC7-5526-CC1F-4FA7-88827F1F0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C34325B8-18BC-9F51-3050-ED13F6556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Операционные инструменты</a:t>
            </a: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1235C6B9-A573-7D5D-7190-C257BA5B32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>
              <a:buFont typeface="Courier New" panose="02070309020205020404" pitchFamily="49" charset="0"/>
              <a:buChar char="o"/>
            </a:pPr>
            <a:r>
              <a:rPr lang="ru-RU" dirty="0"/>
              <a:t>Дашборд</a:t>
            </a:r>
          </a:p>
          <a:p>
            <a:pPr marL="342900" lvl="0" indent="-342900">
              <a:buFont typeface="Courier New" panose="02070309020205020404" pitchFamily="49" charset="0"/>
              <a:buChar char="o"/>
            </a:pPr>
            <a:r>
              <a:rPr lang="ru-RU" dirty="0"/>
              <a:t>Калькулятор затрат на транзакции</a:t>
            </a:r>
          </a:p>
        </p:txBody>
      </p:sp>
    </p:spTree>
    <p:extLst>
      <p:ext uri="{BB962C8B-B14F-4D97-AF65-F5344CB8AC3E}">
        <p14:creationId xmlns:p14="http://schemas.microsoft.com/office/powerpoint/2010/main" val="26413973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>
            <a:extLst>
              <a:ext uri="{FF2B5EF4-FFF2-40B4-BE49-F238E27FC236}">
                <a16:creationId xmlns:a16="http://schemas.microsoft.com/office/drawing/2014/main" id="{E1F36E38-7F1C-3E36-0049-1611D15F5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Дашборд</a:t>
            </a:r>
            <a:br>
              <a:rPr lang="ru-RU" sz="3600" dirty="0"/>
            </a:br>
            <a:br>
              <a:rPr lang="ru-RU" sz="3600" dirty="0"/>
            </a:br>
            <a:endParaRPr lang="ru-RU" sz="3600" dirty="0"/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651B77D7-800F-F8BE-1DAE-C19796284E2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dirty="0"/>
              <a:t>Динамика </a:t>
            </a:r>
            <a:r>
              <a:rPr lang="ru-RU" b="1" dirty="0"/>
              <a:t>количества</a:t>
            </a:r>
            <a:r>
              <a:rPr lang="ru-RU" dirty="0"/>
              <a:t> транзакций и средней </a:t>
            </a:r>
            <a:r>
              <a:rPr lang="ru-RU" b="1" dirty="0"/>
              <a:t>суммы</a:t>
            </a:r>
            <a:r>
              <a:rPr lang="ru-RU" dirty="0"/>
              <a:t> платежа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dirty="0"/>
              <a:t>Динамика </a:t>
            </a:r>
            <a:r>
              <a:rPr lang="ru-RU" b="1" dirty="0"/>
              <a:t>суммы</a:t>
            </a:r>
            <a:r>
              <a:rPr lang="ru-RU" dirty="0"/>
              <a:t> платежей в разрезе </a:t>
            </a:r>
            <a:r>
              <a:rPr lang="ru-RU" b="1" dirty="0"/>
              <a:t>платежных </a:t>
            </a:r>
            <a:r>
              <a:rPr lang="ru-RU" dirty="0"/>
              <a:t>систем</a:t>
            </a:r>
            <a:r>
              <a:rPr lang="ru-RU" b="1" dirty="0"/>
              <a:t>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dirty="0"/>
              <a:t>Метрики </a:t>
            </a:r>
            <a:r>
              <a:rPr lang="ru-RU" b="1" dirty="0"/>
              <a:t>суммы</a:t>
            </a:r>
            <a:r>
              <a:rPr lang="ru-RU" dirty="0"/>
              <a:t> и </a:t>
            </a:r>
            <a:r>
              <a:rPr lang="ru-RU" b="1" dirty="0"/>
              <a:t>количества</a:t>
            </a:r>
            <a:r>
              <a:rPr lang="ru-RU" dirty="0"/>
              <a:t> платежей, а также </a:t>
            </a:r>
            <a:r>
              <a:rPr lang="ru-RU" b="1" dirty="0"/>
              <a:t>среднего</a:t>
            </a:r>
            <a:r>
              <a:rPr lang="ru-RU" dirty="0"/>
              <a:t> платежа по </a:t>
            </a:r>
            <a:r>
              <a:rPr lang="ru-RU" b="1" dirty="0"/>
              <a:t>платежной</a:t>
            </a:r>
            <a:r>
              <a:rPr lang="ru-RU" dirty="0"/>
              <a:t> системе и </a:t>
            </a:r>
            <a:r>
              <a:rPr lang="ru-RU" b="1" dirty="0"/>
              <a:t>коду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ru-RU" dirty="0"/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ru-RU" dirty="0"/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ru-RU" dirty="0"/>
          </a:p>
        </p:txBody>
      </p:sp>
      <p:pic>
        <p:nvPicPr>
          <p:cNvPr id="16" name="Объект 15">
            <a:extLst>
              <a:ext uri="{FF2B5EF4-FFF2-40B4-BE49-F238E27FC236}">
                <a16:creationId xmlns:a16="http://schemas.microsoft.com/office/drawing/2014/main" id="{52C5BB52-5E7E-7A2B-87F3-6DCA0D18F2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83188" y="1335562"/>
            <a:ext cx="6172200" cy="4177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223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0A110-5F73-6DE4-1DAD-E68379993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>
            <a:extLst>
              <a:ext uri="{FF2B5EF4-FFF2-40B4-BE49-F238E27FC236}">
                <a16:creationId xmlns:a16="http://schemas.microsoft.com/office/drawing/2014/main" id="{F743C5E4-D236-E173-4CE0-DEB333507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4846637" cy="1600200"/>
          </a:xfrm>
        </p:spPr>
        <p:txBody>
          <a:bodyPr>
            <a:normAutofit fontScale="90000"/>
          </a:bodyPr>
          <a:lstStyle/>
          <a:p>
            <a:r>
              <a:rPr lang="ru-RU" sz="3600" dirty="0"/>
              <a:t>Дашборд</a:t>
            </a:r>
            <a:br>
              <a:rPr lang="ru-RU" sz="3600" dirty="0"/>
            </a:br>
            <a:r>
              <a:rPr lang="ru-RU" sz="3600" dirty="0"/>
              <a:t>Настройка параметров</a:t>
            </a:r>
            <a:br>
              <a:rPr lang="ru-RU" sz="3600" dirty="0"/>
            </a:br>
            <a:endParaRPr lang="ru-RU" sz="3600" dirty="0"/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E01BF19F-72CD-9042-B664-BEF19893F4F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dirty="0"/>
              <a:t>Адрес торговой точки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dirty="0"/>
              <a:t>Валюта расчета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dirty="0"/>
              <a:t>Ограничения по минимальному и максимальному платежу</a:t>
            </a:r>
            <a:endParaRPr lang="ru-RU" b="1" dirty="0">
              <a:solidFill>
                <a:srgbClr val="FF0000"/>
              </a:solidFill>
            </a:endParaRPr>
          </a:p>
          <a:p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5E02E844-309F-52F8-23BF-08B3680EE6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30680" y="2928868"/>
            <a:ext cx="3877216" cy="990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7384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E5431F-45B7-1495-7748-115D3DF9C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>
            <a:extLst>
              <a:ext uri="{FF2B5EF4-FFF2-40B4-BE49-F238E27FC236}">
                <a16:creationId xmlns:a16="http://schemas.microsoft.com/office/drawing/2014/main" id="{DF588311-C65F-FDDF-FD5F-C34A3E652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5160962" cy="1600200"/>
          </a:xfrm>
        </p:spPr>
        <p:txBody>
          <a:bodyPr>
            <a:normAutofit fontScale="90000"/>
          </a:bodyPr>
          <a:lstStyle/>
          <a:p>
            <a:r>
              <a:rPr lang="ru-RU" sz="3600" dirty="0"/>
              <a:t>Дашборд</a:t>
            </a:r>
            <a:br>
              <a:rPr lang="ru-RU" sz="3600" dirty="0"/>
            </a:br>
            <a:r>
              <a:rPr lang="ru-RU" sz="3600" dirty="0"/>
              <a:t>Настройка параметров</a:t>
            </a:r>
            <a:br>
              <a:rPr lang="ru-RU" sz="3600" dirty="0"/>
            </a:br>
            <a:endParaRPr lang="ru-RU" sz="3600" dirty="0"/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3DA19501-9F75-A0FD-DACA-B6AE729EC16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dirty="0"/>
              <a:t>Код платежа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dirty="0"/>
              <a:t>Платежная система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5D7D9901-69E5-5B2D-1BAC-3A7AED4E8D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78285" y="2562104"/>
            <a:ext cx="3982006" cy="1724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0634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033D4-7662-D68C-17BD-ACF918617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>
            <a:extLst>
              <a:ext uri="{FF2B5EF4-FFF2-40B4-BE49-F238E27FC236}">
                <a16:creationId xmlns:a16="http://schemas.microsoft.com/office/drawing/2014/main" id="{40E2070E-81E5-2BCB-00E8-A8188AA98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5018087" cy="1600200"/>
          </a:xfrm>
        </p:spPr>
        <p:txBody>
          <a:bodyPr>
            <a:normAutofit fontScale="90000"/>
          </a:bodyPr>
          <a:lstStyle/>
          <a:p>
            <a:r>
              <a:rPr lang="ru-RU" sz="3600" dirty="0"/>
              <a:t>Калькулятор издержек</a:t>
            </a:r>
            <a:br>
              <a:rPr lang="ru-RU" sz="3600" dirty="0"/>
            </a:br>
            <a:br>
              <a:rPr lang="ru-RU" sz="3600" dirty="0"/>
            </a:br>
            <a:endParaRPr lang="ru-RU" sz="3600" dirty="0"/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81DA4F1E-A0AA-F4CF-DB52-3C618761FE2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dirty="0"/>
              <a:t>Расчет </a:t>
            </a:r>
            <a:r>
              <a:rPr lang="ru-RU" b="1" dirty="0"/>
              <a:t>затрат</a:t>
            </a:r>
            <a:r>
              <a:rPr lang="ru-RU" dirty="0"/>
              <a:t> на транзакции </a:t>
            </a:r>
            <a:br>
              <a:rPr lang="ru-RU" dirty="0"/>
            </a:br>
            <a:r>
              <a:rPr lang="ru-RU" dirty="0"/>
              <a:t>на каждом сервере и их </a:t>
            </a:r>
            <a:r>
              <a:rPr lang="ru-RU" b="1" dirty="0"/>
              <a:t>сумма</a:t>
            </a:r>
            <a:r>
              <a:rPr lang="ru-RU" dirty="0"/>
              <a:t>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dirty="0"/>
              <a:t>Расчет </a:t>
            </a:r>
            <a:r>
              <a:rPr lang="ru-RU" b="1" dirty="0"/>
              <a:t>экономии</a:t>
            </a:r>
            <a:r>
              <a:rPr lang="ru-RU" dirty="0"/>
              <a:t> по каждому серверу</a:t>
            </a:r>
            <a:endParaRPr lang="ru-RU" b="1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5CCC3D18-910D-535B-C76E-6AB245FAFC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83188" y="2461162"/>
            <a:ext cx="6172200" cy="1926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9059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30B77-419D-299F-2450-6DFCAC96F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>
            <a:extLst>
              <a:ext uri="{FF2B5EF4-FFF2-40B4-BE49-F238E27FC236}">
                <a16:creationId xmlns:a16="http://schemas.microsoft.com/office/drawing/2014/main" id="{071995A1-7BF4-E847-5DA1-60E740D7B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5761037" cy="1600200"/>
          </a:xfrm>
        </p:spPr>
        <p:txBody>
          <a:bodyPr>
            <a:normAutofit/>
          </a:bodyPr>
          <a:lstStyle/>
          <a:p>
            <a:r>
              <a:rPr lang="ru-RU" sz="3600" dirty="0"/>
              <a:t>Калькулятор издержек</a:t>
            </a:r>
            <a:br>
              <a:rPr lang="ru-RU" sz="3600" dirty="0"/>
            </a:br>
            <a:r>
              <a:rPr lang="ru-RU" sz="3600" dirty="0"/>
              <a:t>Настройка параметров</a:t>
            </a:r>
            <a:br>
              <a:rPr lang="ru-RU" sz="3600" dirty="0"/>
            </a:br>
            <a:endParaRPr lang="ru-RU" sz="3600" dirty="0"/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E384CA01-8206-B60B-758A-CBDD78C1464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dirty="0"/>
              <a:t>Цена одной транзакции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dirty="0"/>
              <a:t>Скидки</a:t>
            </a:r>
          </a:p>
          <a:p>
            <a:endParaRPr lang="ru-RU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B4726D5F-20C4-1FE8-B672-D8EC57D6B4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8417" y="1828577"/>
            <a:ext cx="2981741" cy="3191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0815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D7E08-26C5-AD00-8D0A-DAC7FD212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DFA1FF02-C27D-1E1A-80EE-F74BDF5B8C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Благодарю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381253197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1011</TotalTime>
  <Words>829</Words>
  <Application>Microsoft Office PowerPoint</Application>
  <PresentationFormat>Широкоэкранный</PresentationFormat>
  <Paragraphs>209</Paragraphs>
  <Slides>23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28" baseType="lpstr">
      <vt:lpstr>Aptos</vt:lpstr>
      <vt:lpstr>Aptos Display</vt:lpstr>
      <vt:lpstr>Arial</vt:lpstr>
      <vt:lpstr>Courier New</vt:lpstr>
      <vt:lpstr>Тема Office</vt:lpstr>
      <vt:lpstr>Презентация PowerPoint</vt:lpstr>
      <vt:lpstr>1 – 4 сентября</vt:lpstr>
      <vt:lpstr>Рост количества транзакций </vt:lpstr>
      <vt:lpstr>Рост количества транзакций </vt:lpstr>
      <vt:lpstr>Проблема:  Нагрузка на сервер</vt:lpstr>
      <vt:lpstr>Решение:  Привязка Ракетном к 1 серверу</vt:lpstr>
      <vt:lpstr>Кассы самообслуживания </vt:lpstr>
      <vt:lpstr>Эффективность  касс самообслуживания</vt:lpstr>
      <vt:lpstr>Анализ первого дня  </vt:lpstr>
      <vt:lpstr>Анализ первого дня </vt:lpstr>
      <vt:lpstr>Анализ первого дня </vt:lpstr>
      <vt:lpstr>Анализ первого дня </vt:lpstr>
      <vt:lpstr>5 – 7 сентября</vt:lpstr>
      <vt:lpstr> </vt:lpstr>
      <vt:lpstr>Акция 7 сентября </vt:lpstr>
      <vt:lpstr>Распределение скидок </vt:lpstr>
      <vt:lpstr>Операционные инструменты</vt:lpstr>
      <vt:lpstr>Дашборд  </vt:lpstr>
      <vt:lpstr>Дашборд Настройка параметров </vt:lpstr>
      <vt:lpstr>Дашборд Настройка параметров </vt:lpstr>
      <vt:lpstr>Калькулятор издержек  </vt:lpstr>
      <vt:lpstr>Калькулятор издержек Настройка параметров </vt:lpstr>
      <vt:lpstr>Благодарю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Василий Овсянников</dc:creator>
  <cp:lastModifiedBy>Василий Овсянников</cp:lastModifiedBy>
  <cp:revision>13</cp:revision>
  <dcterms:created xsi:type="dcterms:W3CDTF">2026-04-15T12:34:40Z</dcterms:created>
  <dcterms:modified xsi:type="dcterms:W3CDTF">2026-05-02T14:04:39Z</dcterms:modified>
</cp:coreProperties>
</file>